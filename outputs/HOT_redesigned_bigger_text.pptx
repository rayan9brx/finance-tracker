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ns2:creationId id="{06FF7486-1A13-4B61-8DBC-8EE1BF805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0B53652E-3A5E-45FD-8F92-C20C4C45BB02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1747A130-3062-490B-BD57-EF9E8E394B56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95250" cy="68580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ns2:creationId id="{A9BC8F1E-0163-4E39-8F3D-3964B184102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OVGU - COMSYS - Seminar SS2026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9A42ACA4-3C06-4317-8E13-2E1FCE4FE4E0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895350" cy="6667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ns2:creationId id="{9FD9F404-4369-4D2C-933A-8518929E9284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334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116" b="1">
                <a:solidFill>
                  <a:srgbClr val="102033"/>
                </a:solidFill>
              </a:defRPr>
            </a:pPr>
            <a:r>
              <a:rPr sz="4116" b="1">
                <a:solidFill>
                  <a:srgbClr val="102033"/>
                </a:solidFill>
              </a:rPr>
              <a:t>Proactive Routing Using OLSR in Wireless Networks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5329C04B-36E8-412B-9320-C5A26BF33894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5C6977"/>
                </a:solidFill>
              </a:defRPr>
            </a:pPr>
            <a:r>
              <a:rPr sz="1800">
                <a:solidFill>
                  <a:srgbClr val="5C6977"/>
                </a:solidFill>
              </a:rPr>
              <a:t>Seminar: Hot Topics in Communication Systems and Internet of Things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9212DEA4-709E-41E8-A69A-CE4D31004BA2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102033"/>
                </a:solidFill>
              </a:defRPr>
            </a:pPr>
            <a:r>
              <a:rPr sz="1400" b="1">
                <a:solidFill>
                  <a:srgbClr val="102033"/>
                </a:solidFill>
              </a:rPr>
              <a:t>Rayan Brigui | OVGU COMSYS | SS2026</a:t>
            </a:r>
          </a:p>
        </p:txBody>
      </p:sp>
    </p:spTree>
    <p:extLst>
      <p:ext uri="{BB962C8B-B14F-4D97-AF65-F5344CB8AC3E}">
        <ns3:creationId val="2085781380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ns2:creationId id="{A88C9B61-F74E-4E6E-8195-67DD00E1D6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5AB29AA3-CB02-46A8-AC8A-A7B8DDDFF51B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017C9C64-68AB-4170-9AC2-33403029C33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PAPER STRUCTURE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62376CAE-144A-4648-9E45-E14F33EC2C1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Structure of the Presentation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F401648F-C7E0-4242-A060-0376C611E8D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ns2:creationId id="{7F8B84A6-E19F-4479-9AA4-257F552503E7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79C2A399-486E-4083-B01F-FE3ABA413496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02</a:t>
            </a:r>
          </a:p>
        </p:txBody>
      </p:sp>
      <p:sp>
        <p:nvSpPr>
          <p:cNvPr id="8" name="Oval 7">
            <a:extLst>
              <a:ext uri="{FF2B5EF4-FFF2-40B4-BE49-F238E27FC236}">
                <ns2:creationId id="{2378287A-1A01-4AA7-B3C2-64CEDA05B6C9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171450" cy="171450"/>
          </a:xfrm>
          <a:prstGeom prst="ellipse">
            <a:avLst/>
          </a:prstGeom>
          <a:solidFill>
            <a:srgbClr val="FCEBE7"/>
          </a:solidFill>
          <a:ln w="14288">
            <a:solidFill>
              <a:srgbClr val="E85D4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ns2:creationId id="{A06A76CC-B621-461A-97DC-E6A44504B684}"/>
              </a:ext>
            </a:extLst>
          </p:cNvPr>
          <p:cNvSpPr>
            <a:spLocks noGrp="1"/>
          </p:cNvSpPr>
          <p:nvPr/>
        </p:nvSpPr>
        <p:spPr>
          <a:xfrm>
            <a:off x="1562100" y="203835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Introduction: motivation, routing problem, and aim of the paper.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C634135A-6B51-4192-8D5A-F55AAB0A560A}"/>
              </a:ext>
            </a:extLst>
          </p:cNvPr>
          <p:cNvSpPr>
            <a:spLocks noGrp="1"/>
          </p:cNvSpPr>
          <p:nvPr/>
        </p:nvSpPr>
        <p:spPr>
          <a:xfrm>
            <a:off x="1009650" y="2228850"/>
            <a:ext cx="19050" cy="47625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1" name="Oval 10">
            <a:extLst>
              <a:ext uri="{FF2B5EF4-FFF2-40B4-BE49-F238E27FC236}">
                <ns2:creationId id="{8D7AC922-9595-4FF3-8168-8ECF03263D4D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171450" cy="171450"/>
          </a:xfrm>
          <a:prstGeom prst="ellipse">
            <a:avLst/>
          </a:prstGeom>
          <a:solidFill>
            <a:srgbClr val="FCEBE7"/>
          </a:solidFill>
          <a:ln w="14288">
            <a:solidFill>
              <a:srgbClr val="E85D4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14EDE740-37BA-43C2-BB64-F71261C4D964}"/>
              </a:ext>
            </a:extLst>
          </p:cNvPr>
          <p:cNvSpPr>
            <a:spLocks noGrp="1"/>
          </p:cNvSpPr>
          <p:nvPr/>
        </p:nvSpPr>
        <p:spPr>
          <a:xfrm>
            <a:off x="1562100" y="274320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Proactive routing: definition, route maintenance, advantages, and limitations.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5199CCCB-558D-4177-97B5-85521DFB0264}"/>
              </a:ext>
            </a:extLst>
          </p:cNvPr>
          <p:cNvSpPr>
            <a:spLocks noGrp="1"/>
          </p:cNvSpPr>
          <p:nvPr/>
        </p:nvSpPr>
        <p:spPr>
          <a:xfrm>
            <a:off x="1009650" y="2933700"/>
            <a:ext cx="19050" cy="47625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4" name="Oval 13">
            <a:extLst>
              <a:ext uri="{FF2B5EF4-FFF2-40B4-BE49-F238E27FC236}">
                <ns2:creationId id="{455D574C-DC35-4A46-A274-86C00CC93A13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171450" cy="171450"/>
          </a:xfrm>
          <a:prstGeom prst="ellipse">
            <a:avLst/>
          </a:prstGeom>
          <a:solidFill>
            <a:srgbClr val="E7F3F3"/>
          </a:solidFill>
          <a:ln w="14288">
            <a:solidFill>
              <a:srgbClr val="007C8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ns2:creationId id="{A15834D4-F241-4FF4-8C5C-34AD2D96E441}"/>
              </a:ext>
            </a:extLst>
          </p:cNvPr>
          <p:cNvSpPr>
            <a:spLocks noGrp="1"/>
          </p:cNvSpPr>
          <p:nvPr/>
        </p:nvSpPr>
        <p:spPr>
          <a:xfrm>
            <a:off x="1562100" y="344805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OLSR protocol: HELLO messages, TC messages, and route calculation.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6C35D8A5-4FCC-446B-810F-8D6C9213E7CA}"/>
              </a:ext>
            </a:extLst>
          </p:cNvPr>
          <p:cNvSpPr>
            <a:spLocks noGrp="1"/>
          </p:cNvSpPr>
          <p:nvPr/>
        </p:nvSpPr>
        <p:spPr>
          <a:xfrm>
            <a:off x="1009650" y="3638550"/>
            <a:ext cx="19050" cy="47625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7" name="Oval 16">
            <a:extLst>
              <a:ext uri="{FF2B5EF4-FFF2-40B4-BE49-F238E27FC236}">
                <ns2:creationId id="{D9A86A0A-260D-4DDB-9BAF-70B8AD870A4F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171450" cy="171450"/>
          </a:xfrm>
          <a:prstGeom prst="ellipse">
            <a:avLst/>
          </a:prstGeom>
          <a:solidFill>
            <a:srgbClr val="E7F3F3"/>
          </a:solidFill>
          <a:ln w="14288">
            <a:solidFill>
              <a:srgbClr val="007C8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ns2:creationId id="{CF809DE9-51CB-4205-B6CE-FCC5CD2E80B8}"/>
              </a:ext>
            </a:extLst>
          </p:cNvPr>
          <p:cNvSpPr>
            <a:spLocks noGrp="1"/>
          </p:cNvSpPr>
          <p:nvPr/>
        </p:nvSpPr>
        <p:spPr>
          <a:xfrm>
            <a:off x="1562100" y="415290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Multipoint Relays: selection process and overhead reduction.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0155A484-4E17-4372-AD96-8C9F6329A7CD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19050" cy="47625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20" name="Oval 19">
            <a:extLst>
              <a:ext uri="{FF2B5EF4-FFF2-40B4-BE49-F238E27FC236}">
                <ns2:creationId id="{6F78750E-3208-4010-B148-DF7DDE0279D2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71450" cy="171450"/>
          </a:xfrm>
          <a:prstGeom prst="ellipse">
            <a:avLst/>
          </a:prstGeom>
          <a:solidFill>
            <a:srgbClr val="E7F3F3"/>
          </a:solidFill>
          <a:ln w="14288">
            <a:solidFill>
              <a:srgbClr val="007C8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ns2:creationId id="{33D9E8C0-8904-421E-8C3D-0F0B4CDA8509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Discussion and conclusion: suitability, main findings, and limitations.</a:t>
            </a:r>
          </a:p>
        </p:txBody>
      </p:sp>
    </p:spTree>
    <p:extLst>
      <p:ext uri="{BB962C8B-B14F-4D97-AF65-F5344CB8AC3E}">
        <ns3:creationId val="804969337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FF450220-3EE6-4E41-B563-70539E3A26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53A5CF6A-ABAC-4BF0-BC12-3234E78EDC7E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2A44D9BF-69C0-45EA-928A-F8534332A1B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B206B9A4-6D84-4EB4-AF34-33BF141F7144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FD444EF0-C7E2-409C-9AC1-3590BD7590F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Introduction and Motivation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92DBD86B-7225-4903-87C5-E76B8564E1B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6FCF5322-4CA1-4A6A-B75A-3B5B29D8BA19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B2461C68-0E89-4807-A8D6-7D7B74599C0C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A0F5B468-5CF8-443D-89D1-C3EFA201F06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Why this topic is important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BCD2A0AD-7799-4350-B0FB-1DC599FE7C5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33400" cy="28575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ns2:creationId id="{258B3E17-A5B1-4238-B1D0-B3EBBB9075EE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1ABD7916-2DA6-4D44-AD5A-3E24FD2773DF}"/>
              </a:ext>
            </a:extLst>
          </p:cNvPr>
          <p:cNvSpPr>
            <a:spLocks noGrp="1"/>
          </p:cNvSpPr>
          <p:nvPr/>
        </p:nvSpPr>
        <p:spPr>
          <a:xfrm>
            <a:off x="990600" y="23622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Wireless networks are used to connect devices without cables.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7B0AE70D-B5F3-4C97-A1C1-3F08C64F1461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84C91E74-40BB-4D71-923A-D15FA91E55D6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Usually, wireless networks depend on fixed infrastructure, such as routers or base stations.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A2681F44-A297-4720-88F6-049D654D9F72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378B7A2F-F6D1-4C04-A21A-E700E96C9F58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But in some situations, this infrastructure is not available.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81CAF1C3-5581-4949-84E7-2A0D17B9EFCC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Example situations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BAD942ED-62E3-4F76-A7CE-70EC36537E54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533400" cy="28575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ns2:creationId id="{878C8009-05E8-4DDB-BB10-FD50590F4ACB}"/>
              </a:ext>
            </a:extLst>
          </p:cNvPr>
          <p:cNvSpPr>
            <a:spLocks noGrp="1"/>
          </p:cNvSpPr>
          <p:nvPr/>
        </p:nvSpPr>
        <p:spPr>
          <a:xfrm>
            <a:off x="6572250" y="24384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ns2:creationId id="{6B848D0A-4E91-47D4-847D-EF935028D4BA}"/>
              </a:ext>
            </a:extLst>
          </p:cNvPr>
          <p:cNvSpPr>
            <a:spLocks noGrp="1"/>
          </p:cNvSpPr>
          <p:nvPr/>
        </p:nvSpPr>
        <p:spPr>
          <a:xfrm>
            <a:off x="6800850" y="23622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Emergency and rescue operations</a:t>
            </a:r>
          </a:p>
        </p:txBody>
      </p:sp>
      <p:sp>
        <p:nvSpPr>
          <p:cNvPr id="21" name="Rectangle 20">
            <a:extLst>
              <a:ext uri="{FF2B5EF4-FFF2-40B4-BE49-F238E27FC236}">
                <ns2:creationId id="{DDA89E4C-02F9-43E1-ACD7-6122BB6C9C40}"/>
              </a:ext>
            </a:extLst>
          </p:cNvPr>
          <p:cNvSpPr>
            <a:spLocks noGrp="1"/>
          </p:cNvSpPr>
          <p:nvPr/>
        </p:nvSpPr>
        <p:spPr>
          <a:xfrm>
            <a:off x="6572250" y="28384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ns2:creationId id="{2B7673B2-211D-4A72-9873-72026015CA50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Military communication</a:t>
            </a:r>
          </a:p>
        </p:txBody>
      </p:sp>
      <p:sp>
        <p:nvSpPr>
          <p:cNvPr id="23" name="Rectangle 22">
            <a:extLst>
              <a:ext uri="{FF2B5EF4-FFF2-40B4-BE49-F238E27FC236}">
                <ns2:creationId id="{FAC24B27-98AB-43BB-A96E-61BEF3D908CA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ns2:creationId id="{E9526B11-F19A-45FA-AAFB-EDD7A9ECC5AE}"/>
              </a:ext>
            </a:extLst>
          </p:cNvPr>
          <p:cNvSpPr>
            <a:spLocks noGrp="1"/>
          </p:cNvSpPr>
          <p:nvPr/>
        </p:nvSpPr>
        <p:spPr>
          <a:xfrm>
            <a:off x="6800850" y="31623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Temporary events</a:t>
            </a:r>
          </a:p>
        </p:txBody>
      </p:sp>
      <p:sp>
        <p:nvSpPr>
          <p:cNvPr id="25" name="Rectangle 24">
            <a:extLst>
              <a:ext uri="{FF2B5EF4-FFF2-40B4-BE49-F238E27FC236}">
                <ns2:creationId id="{63839104-8E14-4CE6-B688-6E9BC9967C18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Main idea</a:t>
            </a:r>
          </a:p>
        </p:txBody>
      </p:sp>
      <p:sp>
        <p:nvSpPr>
          <p:cNvPr id="26" name="Rectangle 25">
            <a:extLst>
              <a:ext uri="{FF2B5EF4-FFF2-40B4-BE49-F238E27FC236}">
                <ns2:creationId id="{ACC343A8-797B-49C8-A86E-455B53B81FAA}"/>
              </a:ext>
            </a:extLst>
          </p:cNvPr>
          <p:cNvSpPr>
            <a:spLocks noGrp="1"/>
          </p:cNvSpPr>
          <p:nvPr/>
        </p:nvSpPr>
        <p:spPr>
          <a:xfrm>
            <a:off x="762000" y="4286250"/>
            <a:ext cx="533400" cy="28575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ns2:creationId id="{9114B7CC-C563-4288-AB87-C3B6A8E3666F}"/>
              </a:ext>
            </a:extLst>
          </p:cNvPr>
          <p:cNvSpPr>
            <a:spLocks noGrp="1"/>
          </p:cNvSpPr>
          <p:nvPr/>
        </p:nvSpPr>
        <p:spPr>
          <a:xfrm>
            <a:off x="762000" y="46291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ns2:creationId id="{9DF58B3E-A5CE-4DD4-8102-81F556FD91AB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In these cases, devices must communicate directly with each other.</a:t>
            </a:r>
          </a:p>
        </p:txBody>
      </p:sp>
      <p:sp>
        <p:nvSpPr>
          <p:cNvPr id="29" name="Rectangle 28">
            <a:extLst>
              <a:ext uri="{FF2B5EF4-FFF2-40B4-BE49-F238E27FC236}">
                <ns2:creationId id="{6D444CF6-436A-40C9-8E98-A6807229FFE6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ns2:creationId id="{886B03D5-58E6-4C14-A587-D929971600C8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They may also forward data for other devices.</a:t>
            </a:r>
          </a:p>
        </p:txBody>
      </p:sp>
      <p:sp>
        <p:nvSpPr>
          <p:cNvPr id="31" name="Rectangle 30">
            <a:extLst>
              <a:ext uri="{FF2B5EF4-FFF2-40B4-BE49-F238E27FC236}">
                <ns2:creationId id="{CAB73B78-B0B7-4DDD-891F-384CFF60E848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ns2:creationId id="{79D10082-9808-4DC4-8609-0F7AAEF2F30C}"/>
              </a:ext>
            </a:extLst>
          </p:cNvPr>
          <p:cNvSpPr>
            <a:spLocks noGrp="1"/>
          </p:cNvSpPr>
          <p:nvPr/>
        </p:nvSpPr>
        <p:spPr>
          <a:xfrm>
            <a:off x="990600" y="53530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This creates a Mobile Ad Hoc Network, or MANET.</a:t>
            </a:r>
          </a:p>
        </p:txBody>
      </p:sp>
      <p:sp>
        <p:nvSpPr>
          <p:cNvPr id="33" name="Rectangle 32">
            <a:extLst>
              <a:ext uri="{FF2B5EF4-FFF2-40B4-BE49-F238E27FC236}">
                <ns2:creationId id="{6A0F8999-84A1-4E02-8DA5-D1F0128BA288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E85D45"/>
                </a:solidFill>
              </a:defRPr>
            </a:pPr>
            <a:r>
              <a:rPr sz="1400" b="1">
                <a:solidFill>
                  <a:srgbClr val="E85D45"/>
                </a:solidFill>
              </a:rPr>
              <a:t>Problem</a:t>
            </a:r>
          </a:p>
        </p:txBody>
      </p:sp>
      <p:sp>
        <p:nvSpPr>
          <p:cNvPr id="34" name="Rectangle 33">
            <a:extLst>
              <a:ext uri="{FF2B5EF4-FFF2-40B4-BE49-F238E27FC236}">
                <ns2:creationId id="{E5553505-4040-409F-B064-6A6950BB61B2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533400" cy="2857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ns2:creationId id="{237627BC-8417-47DE-86F9-D86542621A80}"/>
              </a:ext>
            </a:extLst>
          </p:cNvPr>
          <p:cNvSpPr>
            <a:spLocks noGrp="1"/>
          </p:cNvSpPr>
          <p:nvPr/>
        </p:nvSpPr>
        <p:spPr>
          <a:xfrm>
            <a:off x="6572250" y="46291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ns2:creationId id="{465E67EB-A482-4BD4-B8A2-C38C71F63E2E}"/>
              </a:ext>
            </a:extLst>
          </p:cNvPr>
          <p:cNvSpPr>
            <a:spLocks noGrp="1"/>
          </p:cNvSpPr>
          <p:nvPr/>
        </p:nvSpPr>
        <p:spPr>
          <a:xfrm>
            <a:off x="6800850" y="45529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Because nodes can move, the network topology changes often.</a:t>
            </a:r>
          </a:p>
        </p:txBody>
      </p:sp>
      <p:sp>
        <p:nvSpPr>
          <p:cNvPr id="37" name="Rectangle 36">
            <a:extLst>
              <a:ext uri="{FF2B5EF4-FFF2-40B4-BE49-F238E27FC236}">
                <ns2:creationId id="{7DCD4A5F-15D9-4FAB-9EDA-E89472735CCF}"/>
              </a:ext>
            </a:extLst>
          </p:cNvPr>
          <p:cNvSpPr>
            <a:spLocks noGrp="1"/>
          </p:cNvSpPr>
          <p:nvPr/>
        </p:nvSpPr>
        <p:spPr>
          <a:xfrm>
            <a:off x="6572250" y="50292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ns2:creationId id="{6B5DCD8B-5F72-4B6F-9F07-5A4FD37961F8}"/>
              </a:ext>
            </a:extLst>
          </p:cNvPr>
          <p:cNvSpPr>
            <a:spLocks noGrp="1"/>
          </p:cNvSpPr>
          <p:nvPr/>
        </p:nvSpPr>
        <p:spPr>
          <a:xfrm>
            <a:off x="6800850" y="49530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Therefore, routing becomes difficult.</a:t>
            </a:r>
          </a:p>
        </p:txBody>
      </p:sp>
    </p:spTree>
    <p:extLst>
      <p:ext uri="{BB962C8B-B14F-4D97-AF65-F5344CB8AC3E}">
        <ns3:creationId val="900641483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ns2:creationId id="{918A49A1-233E-4F27-B1A0-4869A7B965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3B9ED3A5-AA48-47B0-BC23-3EB488BC795D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73377216-D969-4572-988A-80D99D21CFD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PROACTIVE ROUTING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D49246-663F-4A93-A2BD-0DBE81B8BB5B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PROACTIVE ROUTING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CC104816-DF06-4D72-A432-A412A9E7E02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Proactive Routing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E98EF16E-DBE0-4D75-9901-4242475D5FF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30090FE0-2AF1-4DAD-B2C2-B22732432ED1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AD51BA49-5492-4287-9DD7-F1860478E079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EF417B19-5776-46F6-8859-718465496546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 b="1">
                <a:solidFill>
                  <a:srgbClr val="005D63"/>
                </a:solidFill>
              </a:defRPr>
            </a:pPr>
            <a:r>
              <a:rPr sz="1688" b="1">
                <a:solidFill>
                  <a:srgbClr val="005D63"/>
                </a:solidFill>
              </a:rPr>
              <a:t>Also called: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8197FA5B-A41B-4DFA-891D-708D9BB4878A}"/>
              </a:ext>
            </a:extLst>
          </p:cNvPr>
          <p:cNvSpPr>
            <a:spLocks noGrp="1"/>
          </p:cNvSpPr>
          <p:nvPr/>
        </p:nvSpPr>
        <p:spPr>
          <a:xfrm>
            <a:off x="2857500" y="17716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Proactive routing is also called table-driven routing.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869FA864-EBA1-44CC-BF2D-A133F8035140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9715500" cy="1143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7FF7F76A-A607-43A8-92A6-382718C84DAF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 b="1">
                <a:solidFill>
                  <a:srgbClr val="005D63"/>
                </a:solidFill>
              </a:defRPr>
            </a:pPr>
            <a:r>
              <a:rPr sz="1688" b="1">
                <a:solidFill>
                  <a:srgbClr val="005D63"/>
                </a:solidFill>
              </a:rPr>
              <a:t>Definition: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DC97E8F2-B1A2-40A5-941C-C0AB4F732ADD}"/>
              </a:ext>
            </a:extLst>
          </p:cNvPr>
          <p:cNvSpPr>
            <a:spLocks noGrp="1"/>
          </p:cNvSpPr>
          <p:nvPr/>
        </p:nvSpPr>
        <p:spPr>
          <a:xfrm>
            <a:off x="2857500" y="26098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Proactive routing means that each node keeps routes to other nodes ready all the time.</a:t>
            </a:r>
          </a:p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The routes are stored in a routing table.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C3521EC7-DD05-4BA4-93A6-1159548A022C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9715500" cy="1143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ns2:creationId id="{FF6C455E-675E-4201-85D7-05EA4DCA1FF6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 b="1">
                <a:solidFill>
                  <a:srgbClr val="005D63"/>
                </a:solidFill>
              </a:defRPr>
            </a:pPr>
            <a:r>
              <a:rPr sz="1688" b="1">
                <a:solidFill>
                  <a:srgbClr val="005D63"/>
                </a:solidFill>
              </a:rPr>
              <a:t>Main idea: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4C2C0435-D3B6-4FED-8FAD-622B9E60C10B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When a node wants to send data, it does not need to search for a route first.</a:t>
            </a:r>
          </a:p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It can use an already known route immediately.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4C2BC445-4257-4A9F-8CB4-A0CECE065062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9715500" cy="1143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ns2:creationId id="{AD03F0F4-EAEA-43CB-B718-62E9272C0658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 b="1">
                <a:solidFill>
                  <a:srgbClr val="005D63"/>
                </a:solidFill>
              </a:defRPr>
            </a:pPr>
            <a:r>
              <a:rPr sz="1688" b="1">
                <a:solidFill>
                  <a:srgbClr val="005D63"/>
                </a:solidFill>
              </a:rPr>
              <a:t>Main benefit: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9D6AEC94-6619-4904-B421-ECBE21C47EF7}"/>
              </a:ext>
            </a:extLst>
          </p:cNvPr>
          <p:cNvSpPr>
            <a:spLocks noGrp="1"/>
          </p:cNvSpPr>
          <p:nvPr/>
        </p:nvSpPr>
        <p:spPr>
          <a:xfrm>
            <a:off x="2857500" y="42862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It reduces the delay before data transmission starts.</a:t>
            </a:r>
          </a:p>
        </p:txBody>
      </p:sp>
      <p:sp>
        <p:nvSpPr>
          <p:cNvPr id="20" name="Rectangle 19">
            <a:extLst>
              <a:ext uri="{FF2B5EF4-FFF2-40B4-BE49-F238E27FC236}">
                <ns2:creationId id="{7AF18E23-0E9D-4055-8DE1-45F4E6D88B08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9715500" cy="1143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ns2:creationId id="{DBB0B8BD-5733-4A25-A673-74B07FB934F3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 b="1">
                <a:solidFill>
                  <a:srgbClr val="005D63"/>
                </a:solidFill>
              </a:defRPr>
            </a:pPr>
            <a:r>
              <a:rPr sz="1688" b="1">
                <a:solidFill>
                  <a:srgbClr val="005D63"/>
                </a:solidFill>
              </a:rPr>
              <a:t>Main cost:</a:t>
            </a:r>
          </a:p>
        </p:txBody>
      </p:sp>
      <p:sp>
        <p:nvSpPr>
          <p:cNvPr id="22" name="Rectangle 21">
            <a:extLst>
              <a:ext uri="{FF2B5EF4-FFF2-40B4-BE49-F238E27FC236}">
                <ns2:creationId id="{407A6755-8FB9-4F3C-8BAE-3AAB1398ACBF}"/>
              </a:ext>
            </a:extLst>
          </p:cNvPr>
          <p:cNvSpPr>
            <a:spLocks noGrp="1"/>
          </p:cNvSpPr>
          <p:nvPr/>
        </p:nvSpPr>
        <p:spPr>
          <a:xfrm>
            <a:off x="2857500" y="51244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Nodes must exchange control messages regularly to keep routing tables updated.</a:t>
            </a:r>
          </a:p>
        </p:txBody>
      </p:sp>
    </p:spTree>
    <p:extLst>
      <p:ext uri="{BB962C8B-B14F-4D97-AF65-F5344CB8AC3E}">
        <ns3:creationId val="44336716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ns2:creationId id="{F8D47D37-4A33-4309-AC62-7E71A07858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AB8AD421-16AB-4E5A-9952-0C858A6A1E1E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759279D9-8308-454A-8188-4F81C59B9C8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PROACTIVE ROUTING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81D1A64F-2192-46D8-9D8B-C340886C008F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PROACTIVE ROUTING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D005FCB0-CB71-42A1-A3D6-FC47063518A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Advantages and Limitations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2E094B62-8CCB-4223-9120-474B3CF26FF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E377B4FB-D794-4EC1-86F3-26BB0F3E11CC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01BB3CE2-C340-40FC-A89F-901469C91465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55CC5960-23B6-4FFA-BB33-0F79DF4F0FBD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Advantages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51F631CF-FD25-4FAD-A959-343A06A198C7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533400" cy="28575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ns2:creationId id="{411A903E-44FA-4575-BD8F-090CAADF0780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E85D45"/>
                </a:solidFill>
              </a:defRPr>
            </a:pPr>
            <a:r>
              <a:rPr sz="1400" b="1">
                <a:solidFill>
                  <a:srgbClr val="E85D45"/>
                </a:solidFill>
              </a:rPr>
              <a:t>Limitations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129EFC86-FB4B-4D8C-A47F-7B758E1E799F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533400" cy="2857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ns2:creationId id="{8B838C62-EA39-472D-B420-125B9B5BC18B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2CA8F0D7-A876-4BB0-A48C-C49679B066C8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Routes are already available before data transmition starts.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41BD7F52-2574-4E99-A5F4-072E4A9FBD3D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8A1FEF0E-64E7-46EE-BCE6-698EB5A0AF15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Nodes can send data immediately without waiting for route discovery.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C3EC4511-EBA4-4FAD-89FC-610FC714EF33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ns2:creationId id="{DE076E20-14A2-42EB-BA06-F6A21B55F132}"/>
              </a:ext>
            </a:extLst>
          </p:cNvPr>
          <p:cNvSpPr>
            <a:spLocks noGrp="1"/>
          </p:cNvSpPr>
          <p:nvPr/>
        </p:nvSpPr>
        <p:spPr>
          <a:xfrm>
            <a:off x="1181100" y="409575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Proactive routing is useful for frequent and time-sensitive communication.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635B78B8-581B-46AC-930A-6D5DE01567BC}"/>
              </a:ext>
            </a:extLst>
          </p:cNvPr>
          <p:cNvSpPr>
            <a:spLocks noGrp="1"/>
          </p:cNvSpPr>
          <p:nvPr/>
        </p:nvSpPr>
        <p:spPr>
          <a:xfrm>
            <a:off x="5962650" y="2019300"/>
            <a:ext cx="14288" cy="297180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ns2:creationId id="{FE7E62E5-1536-4E47-A0B4-3DE2F095F653}"/>
              </a:ext>
            </a:extLst>
          </p:cNvPr>
          <p:cNvSpPr>
            <a:spLocks noGrp="1"/>
          </p:cNvSpPr>
          <p:nvPr/>
        </p:nvSpPr>
        <p:spPr>
          <a:xfrm>
            <a:off x="6572250" y="28003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ns2:creationId id="{FC83B808-FCB7-42B8-8D14-59369EBD7D24}"/>
              </a:ext>
            </a:extLst>
          </p:cNvPr>
          <p:cNvSpPr>
            <a:spLocks noGrp="1"/>
          </p:cNvSpPr>
          <p:nvPr/>
        </p:nvSpPr>
        <p:spPr>
          <a:xfrm>
            <a:off x="6800850" y="272415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Nodes must send control messages regularly to keep routes updated.</a:t>
            </a:r>
          </a:p>
        </p:txBody>
      </p:sp>
      <p:sp>
        <p:nvSpPr>
          <p:cNvPr id="22" name="Rectangle 21">
            <a:extLst>
              <a:ext uri="{FF2B5EF4-FFF2-40B4-BE49-F238E27FC236}">
                <ns2:creationId id="{B1E845D9-3BFE-48FB-8E74-C48A471DD75D}"/>
              </a:ext>
            </a:extLst>
          </p:cNvPr>
          <p:cNvSpPr>
            <a:spLocks noGrp="1"/>
          </p:cNvSpPr>
          <p:nvPr/>
        </p:nvSpPr>
        <p:spPr>
          <a:xfrm>
            <a:off x="6572250" y="34861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ns2:creationId id="{7F5C165D-7412-4B1C-9EEC-31C732429108}"/>
              </a:ext>
            </a:extLst>
          </p:cNvPr>
          <p:cNvSpPr>
            <a:spLocks noGrp="1"/>
          </p:cNvSpPr>
          <p:nvPr/>
        </p:nvSpPr>
        <p:spPr>
          <a:xfrm>
            <a:off x="6800850" y="340995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Routing updates use bandwidth even when no real data is transmitted.</a:t>
            </a:r>
          </a:p>
        </p:txBody>
      </p:sp>
      <p:sp>
        <p:nvSpPr>
          <p:cNvPr id="24" name="Rectangle 23">
            <a:extLst>
              <a:ext uri="{FF2B5EF4-FFF2-40B4-BE49-F238E27FC236}">
                <ns2:creationId id="{4074EAE3-2795-4481-BC35-9624F91D3DEB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ns2:creationId id="{9A0A8737-E5C1-4B1C-8CFD-DE1096529AC9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Proactive routing becomes less efficient when the network is large or highly mobile.</a:t>
            </a:r>
          </a:p>
        </p:txBody>
      </p:sp>
    </p:spTree>
    <p:extLst>
      <p:ext uri="{BB962C8B-B14F-4D97-AF65-F5344CB8AC3E}">
        <ns3:creationId val="29743193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ns2:creationId id="{4539B498-A942-4DB2-9BB9-B644D72159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9CBF30C0-7BE2-48DC-9FAD-DB3A0B40C95F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C88FB9B3-7425-401F-B55E-3C2042C5563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COMPARISON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8BF4005A-2893-40EF-8626-17B2927FD57D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COMPARISON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1423D90F-E0D8-4EC4-8146-5237164AAEF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Proactive vs Reactive Routing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7F1CF322-A90A-4749-BA84-172E9F19B82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6FF6376C-491A-405E-8CD6-A7F274512F9F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BA5B4906-13CE-4945-A8E5-A81DCDFB0755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790B5C84-1920-49DD-83F9-EEC347BAAE63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10096500" cy="457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ns2:creationId id="{4E9DD289-17F1-4A70-99FC-9845F3C647C9}"/>
              </a:ext>
            </a:extLst>
          </p:cNvPr>
          <p:cNvSpPr>
            <a:spLocks noGrp="1"/>
          </p:cNvSpPr>
          <p:nvPr/>
        </p:nvSpPr>
        <p:spPr>
          <a:xfrm>
            <a:off x="914400" y="2085975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6E6CA7BF-63E2-4E85-8601-143282944682}"/>
              </a:ext>
            </a:extLst>
          </p:cNvPr>
          <p:cNvSpPr>
            <a:spLocks noGrp="1"/>
          </p:cNvSpPr>
          <p:nvPr/>
        </p:nvSpPr>
        <p:spPr>
          <a:xfrm>
            <a:off x="3390900" y="2085975"/>
            <a:ext cx="354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Proactive routing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1A3FF41D-ECC0-4970-AD20-D15C98906B16}"/>
              </a:ext>
            </a:extLst>
          </p:cNvPr>
          <p:cNvSpPr>
            <a:spLocks noGrp="1"/>
          </p:cNvSpPr>
          <p:nvPr/>
        </p:nvSpPr>
        <p:spPr>
          <a:xfrm>
            <a:off x="7200900" y="2085975"/>
            <a:ext cx="354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Reactive routing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4D5B0C08-E785-4C9D-B34A-3CEC4FD1B343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10096500" cy="552450"/>
          </a:xfrm>
          <a:prstGeom prst="rect">
            <a:avLst/>
          </a:prstGeom>
          <a:solidFill>
            <a:srgbClr val="FFFFFF"/>
          </a:solidFill>
          <a:ln w="6668">
            <a:solidFill>
              <a:srgbClr val="D7E1E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213A3FCA-71EF-4B7F-ADB6-2C4E3ECC3BEB}"/>
              </a:ext>
            </a:extLst>
          </p:cNvPr>
          <p:cNvSpPr>
            <a:spLocks noGrp="1"/>
          </p:cNvSpPr>
          <p:nvPr/>
        </p:nvSpPr>
        <p:spPr>
          <a:xfrm>
            <a:off x="914400" y="256222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Route availability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F62563C6-AF43-4383-AA0F-F8AD89ACAC72}"/>
              </a:ext>
            </a:extLst>
          </p:cNvPr>
          <p:cNvSpPr>
            <a:spLocks noGrp="1"/>
          </p:cNvSpPr>
          <p:nvPr/>
        </p:nvSpPr>
        <p:spPr>
          <a:xfrm>
            <a:off x="3390900" y="25622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Prepared in advance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EEFB66E1-70F3-4A9E-B513-F8268D052D7F}"/>
              </a:ext>
            </a:extLst>
          </p:cNvPr>
          <p:cNvSpPr>
            <a:spLocks noGrp="1"/>
          </p:cNvSpPr>
          <p:nvPr/>
        </p:nvSpPr>
        <p:spPr>
          <a:xfrm>
            <a:off x="7200900" y="25622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Created on demand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8AD6933F-6247-41BB-A5B3-C220A33114A4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10096500" cy="552450"/>
          </a:xfrm>
          <a:prstGeom prst="rect">
            <a:avLst/>
          </a:prstGeom>
          <a:solidFill>
            <a:srgbClr val="F1F6F7"/>
          </a:solidFill>
          <a:ln w="6668">
            <a:solidFill>
              <a:srgbClr val="D7E1E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ns2:creationId id="{FE839A62-B0E9-40BF-94FC-E1C72124AFDA}"/>
              </a:ext>
            </a:extLst>
          </p:cNvPr>
          <p:cNvSpPr>
            <a:spLocks noGrp="1"/>
          </p:cNvSpPr>
          <p:nvPr/>
        </p:nvSpPr>
        <p:spPr>
          <a:xfrm>
            <a:off x="914400" y="311467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Initial delay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20479B7C-5888-4F51-A15E-C4B7171C88EB}"/>
              </a:ext>
            </a:extLst>
          </p:cNvPr>
          <p:cNvSpPr>
            <a:spLocks noGrp="1"/>
          </p:cNvSpPr>
          <p:nvPr/>
        </p:nvSpPr>
        <p:spPr>
          <a:xfrm>
            <a:off x="3390900" y="311467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Low</a:t>
            </a:r>
          </a:p>
        </p:txBody>
      </p:sp>
      <p:sp>
        <p:nvSpPr>
          <p:cNvPr id="20" name="Rectangle 19">
            <a:extLst>
              <a:ext uri="{FF2B5EF4-FFF2-40B4-BE49-F238E27FC236}">
                <ns2:creationId id="{D152E4B4-A529-46B5-ABB8-7837C75E170B}"/>
              </a:ext>
            </a:extLst>
          </p:cNvPr>
          <p:cNvSpPr>
            <a:spLocks noGrp="1"/>
          </p:cNvSpPr>
          <p:nvPr/>
        </p:nvSpPr>
        <p:spPr>
          <a:xfrm>
            <a:off x="7200900" y="311467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Higher because discovery is needed</a:t>
            </a:r>
          </a:p>
        </p:txBody>
      </p:sp>
      <p:sp>
        <p:nvSpPr>
          <p:cNvPr id="21" name="Rectangle 20">
            <a:extLst>
              <a:ext uri="{FF2B5EF4-FFF2-40B4-BE49-F238E27FC236}">
                <ns2:creationId id="{AFEFAA34-94A8-452E-839B-FF8BED5E676C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10096500" cy="552450"/>
          </a:xfrm>
          <a:prstGeom prst="rect">
            <a:avLst/>
          </a:prstGeom>
          <a:solidFill>
            <a:srgbClr val="FFFFFF"/>
          </a:solidFill>
          <a:ln w="6668">
            <a:solidFill>
              <a:srgbClr val="D7E1E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ns2:creationId id="{F3BB7338-B5AF-4C49-9FDB-592E0A14B16E}"/>
              </a:ext>
            </a:extLst>
          </p:cNvPr>
          <p:cNvSpPr>
            <a:spLocks noGrp="1"/>
          </p:cNvSpPr>
          <p:nvPr/>
        </p:nvSpPr>
        <p:spPr>
          <a:xfrm>
            <a:off x="914400" y="366712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Control overhead</a:t>
            </a:r>
          </a:p>
        </p:txBody>
      </p:sp>
      <p:sp>
        <p:nvSpPr>
          <p:cNvPr id="23" name="Rectangle 22">
            <a:extLst>
              <a:ext uri="{FF2B5EF4-FFF2-40B4-BE49-F238E27FC236}">
                <ns2:creationId id="{DAAF0CD8-BB09-4F8E-9F75-8421EA1AB19A}"/>
              </a:ext>
            </a:extLst>
          </p:cNvPr>
          <p:cNvSpPr>
            <a:spLocks noGrp="1"/>
          </p:cNvSpPr>
          <p:nvPr/>
        </p:nvSpPr>
        <p:spPr>
          <a:xfrm>
            <a:off x="3390900" y="36671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Higher due to periodic updates</a:t>
            </a:r>
          </a:p>
        </p:txBody>
      </p:sp>
      <p:sp>
        <p:nvSpPr>
          <p:cNvPr id="24" name="Rectangle 23">
            <a:extLst>
              <a:ext uri="{FF2B5EF4-FFF2-40B4-BE49-F238E27FC236}">
                <ns2:creationId id="{812271A8-7369-4969-A80F-EF40A087745F}"/>
              </a:ext>
            </a:extLst>
          </p:cNvPr>
          <p:cNvSpPr>
            <a:spLocks noGrp="1"/>
          </p:cNvSpPr>
          <p:nvPr/>
        </p:nvSpPr>
        <p:spPr>
          <a:xfrm>
            <a:off x="7200900" y="36671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Lower when traffic is low</a:t>
            </a:r>
          </a:p>
        </p:txBody>
      </p:sp>
      <p:sp>
        <p:nvSpPr>
          <p:cNvPr id="25" name="Rectangle 24">
            <a:extLst>
              <a:ext uri="{FF2B5EF4-FFF2-40B4-BE49-F238E27FC236}">
                <ns2:creationId id="{97FC5AA6-C17F-4198-8452-47D893C13C67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10096500" cy="552450"/>
          </a:xfrm>
          <a:prstGeom prst="rect">
            <a:avLst/>
          </a:prstGeom>
          <a:solidFill>
            <a:srgbClr val="F1F6F7"/>
          </a:solidFill>
          <a:ln w="6668">
            <a:solidFill>
              <a:srgbClr val="D7E1E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ns2:creationId id="{43CB6C58-062B-40A0-8EA1-E413A60F5DAA}"/>
              </a:ext>
            </a:extLst>
          </p:cNvPr>
          <p:cNvSpPr>
            <a:spLocks noGrp="1"/>
          </p:cNvSpPr>
          <p:nvPr/>
        </p:nvSpPr>
        <p:spPr>
          <a:xfrm>
            <a:off x="914400" y="421957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Best use case</a:t>
            </a:r>
          </a:p>
        </p:txBody>
      </p:sp>
      <p:sp>
        <p:nvSpPr>
          <p:cNvPr id="27" name="Rectangle 26">
            <a:extLst>
              <a:ext uri="{FF2B5EF4-FFF2-40B4-BE49-F238E27FC236}">
                <ns2:creationId id="{80621D09-6510-443E-B746-1EDE2652A7CB}"/>
              </a:ext>
            </a:extLst>
          </p:cNvPr>
          <p:cNvSpPr>
            <a:spLocks noGrp="1"/>
          </p:cNvSpPr>
          <p:nvPr/>
        </p:nvSpPr>
        <p:spPr>
          <a:xfrm>
            <a:off x="3390900" y="421957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Frequent communication</a:t>
            </a:r>
          </a:p>
        </p:txBody>
      </p:sp>
      <p:sp>
        <p:nvSpPr>
          <p:cNvPr id="28" name="Rectangle 27">
            <a:extLst>
              <a:ext uri="{FF2B5EF4-FFF2-40B4-BE49-F238E27FC236}">
                <ns2:creationId id="{B94114A0-8DA2-4AF5-963C-9010064B5096}"/>
              </a:ext>
            </a:extLst>
          </p:cNvPr>
          <p:cNvSpPr>
            <a:spLocks noGrp="1"/>
          </p:cNvSpPr>
          <p:nvPr/>
        </p:nvSpPr>
        <p:spPr>
          <a:xfrm>
            <a:off x="7200900" y="421957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Low traffic or occasional communication</a:t>
            </a:r>
          </a:p>
        </p:txBody>
      </p:sp>
      <p:sp>
        <p:nvSpPr>
          <p:cNvPr id="29" name="Rectangle 28">
            <a:extLst>
              <a:ext uri="{FF2B5EF4-FFF2-40B4-BE49-F238E27FC236}">
                <ns2:creationId id="{7EA62936-4BE4-4CD0-B20B-AA5DE08E2748}"/>
              </a:ext>
            </a:extLst>
          </p:cNvPr>
          <p:cNvSpPr>
            <a:spLocks noGrp="1"/>
          </p:cNvSpPr>
          <p:nvPr/>
        </p:nvSpPr>
        <p:spPr>
          <a:xfrm>
            <a:off x="781050" y="4619625"/>
            <a:ext cx="10096500" cy="552450"/>
          </a:xfrm>
          <a:prstGeom prst="rect">
            <a:avLst/>
          </a:prstGeom>
          <a:solidFill>
            <a:srgbClr val="FFFFFF"/>
          </a:solidFill>
          <a:ln w="6668">
            <a:solidFill>
              <a:srgbClr val="D7E1E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ns2:creationId id="{652A5AAC-2CA6-4832-BC9F-D60F371ACD47}"/>
              </a:ext>
            </a:extLst>
          </p:cNvPr>
          <p:cNvSpPr>
            <a:spLocks noGrp="1"/>
          </p:cNvSpPr>
          <p:nvPr/>
        </p:nvSpPr>
        <p:spPr>
          <a:xfrm>
            <a:off x="914400" y="477202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Examples</a:t>
            </a:r>
          </a:p>
        </p:txBody>
      </p:sp>
      <p:sp>
        <p:nvSpPr>
          <p:cNvPr id="31" name="Rectangle 30">
            <a:extLst>
              <a:ext uri="{FF2B5EF4-FFF2-40B4-BE49-F238E27FC236}">
                <ns2:creationId id="{5017D582-B83C-4AC0-AFD9-ED54AA45C45F}"/>
              </a:ext>
            </a:extLst>
          </p:cNvPr>
          <p:cNvSpPr>
            <a:spLocks noGrp="1"/>
          </p:cNvSpPr>
          <p:nvPr/>
        </p:nvSpPr>
        <p:spPr>
          <a:xfrm>
            <a:off x="3390900" y="47720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OLSR, DSDV</a:t>
            </a:r>
          </a:p>
        </p:txBody>
      </p:sp>
      <p:sp>
        <p:nvSpPr>
          <p:cNvPr id="32" name="Rectangle 31">
            <a:extLst>
              <a:ext uri="{FF2B5EF4-FFF2-40B4-BE49-F238E27FC236}">
                <ns2:creationId id="{9E8CC789-65D2-4156-93D2-756AA9F13547}"/>
              </a:ext>
            </a:extLst>
          </p:cNvPr>
          <p:cNvSpPr>
            <a:spLocks noGrp="1"/>
          </p:cNvSpPr>
          <p:nvPr/>
        </p:nvSpPr>
        <p:spPr>
          <a:xfrm>
            <a:off x="7200900" y="47720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02033"/>
                </a:solidFill>
              </a:defRPr>
            </a:pPr>
            <a:r>
              <a:rPr sz="1400" b="0">
                <a:solidFill>
                  <a:srgbClr val="102033"/>
                </a:solidFill>
              </a:rPr>
              <a:t>AODV, DSR</a:t>
            </a:r>
          </a:p>
        </p:txBody>
      </p:sp>
    </p:spTree>
    <p:extLst>
      <p:ext uri="{BB962C8B-B14F-4D97-AF65-F5344CB8AC3E}">
        <ns3:creationId val="212053655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ns2:creationId id="{90F9C033-E7B6-45E3-AFFD-F1E283A8B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71D89F8C-936B-42C2-933E-9D5E19B8EE46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A4BAD67F-0F1A-401D-9FE5-CFDE1537F8C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OLSR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D05A3B0F-0AFA-4683-9C1F-3F3CD171A3CB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OLSR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E09E94A9-48D5-4352-B736-B666C3D4673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OLSR Routing Definition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98C8A540-0623-4483-B4D5-630E028F647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AEF779AF-375E-489F-87BE-2FC0A7C51C22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CF80BE4E-D19B-4C7A-87BE-33ED58CE5807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D02308CD-5739-4613-916C-6AC82777F7D1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ns2:creationId id="{0BB256C1-65D3-4697-9855-5892A325A61E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OLSR stands for Optimized Link State Routing.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595F0D6C-C5DC-476A-B5F1-05C64F6E6548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699EE7B6-BCD9-4A51-9640-9B99A9B4A23B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It is a proactive routing protocol for wireless ad hoc networks, especially MANETs.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31B9BDD9-4E30-4A53-86A8-D507ED53083C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2689B5D9-95FC-4827-BE23-4DFFDC0F1105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The main optimization is the use of Multipoint Relays to reduce unnecessary forwarding.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F7E99949-95BE-4E81-BA65-1AAEBEF03AF4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D4B27298-0FB8-4DAA-AC2B-D064B437E354}"/>
              </a:ext>
            </a:extLst>
          </p:cNvPr>
          <p:cNvSpPr>
            <a:spLocks noGrp="1"/>
          </p:cNvSpPr>
          <p:nvPr/>
        </p:nvSpPr>
        <p:spPr>
          <a:xfrm>
            <a:off x="1066800" y="40576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OLSR mainly uses HELLO messages and Topology Control (TC) messages to maintain routing information.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ns2:creationId id="{147EF836-C63C-4616-AE64-295D1C51BE93}"/>
              </a:ext>
            </a:extLst>
          </p:cNvPr>
          <p:cNvSpPr>
            <a:spLocks noGrp="1"/>
          </p:cNvSpPr>
          <p:nvPr/>
        </p:nvSpPr>
        <p:spPr>
          <a:xfrm>
            <a:off x="7810500" y="4876800"/>
            <a:ext cx="1524000" cy="171450"/>
          </a:xfrm>
          <a:prstGeom prst="roundRect">
            <a:avLst>
              <a:gd name="adj" fmla="val 50000"/>
            </a:avLst>
          </a:prstGeom>
          <a:solidFill>
            <a:srgbClr val="E7F3F3"/>
          </a:solidFill>
          <a:ln w="9525">
            <a:solidFill>
              <a:srgbClr val="007C82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ns2:creationId id="{85CA00C2-65CA-44BE-BDD3-BF8076B3E67E}"/>
              </a:ext>
            </a:extLst>
          </p:cNvPr>
          <p:cNvSpPr>
            <a:spLocks noGrp="1"/>
          </p:cNvSpPr>
          <p:nvPr/>
        </p:nvSpPr>
        <p:spPr>
          <a:xfrm>
            <a:off x="9525000" y="4876800"/>
            <a:ext cx="1524000" cy="171450"/>
          </a:xfrm>
          <a:prstGeom prst="roundRect">
            <a:avLst>
              <a:gd name="adj" fmla="val 50000"/>
            </a:avLst>
          </a:prstGeom>
          <a:solidFill>
            <a:srgbClr val="FCEBE7"/>
          </a:solidFill>
          <a:ln w="9525">
            <a:solidFill>
              <a:srgbClr val="E85D45"/>
            </a:solidFill>
            <a:prstDash val="solid"/>
          </a:ln>
        </p:spPr>
      </p:sp>
    </p:spTree>
    <p:extLst>
      <p:ext uri="{BB962C8B-B14F-4D97-AF65-F5344CB8AC3E}">
        <ns3:creationId val="1037846435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ns2:creationId id="{5B5F61B4-D329-4CDA-BACC-4833F25E7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F4144CE3-C50B-47D7-844B-90D92FAB7BFF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D93FA50B-288F-4BEA-97FE-83B244F35A9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PROCESS OVERVIEW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ACDFC4B2-88DA-4CDB-8DE4-9E6AB1EE91BD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PROCESS OVERVIEW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AED948A-30B6-4B52-A37E-B0BA992AD02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OLSR Routing Process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8BAE0DD-73A9-4416-A85A-7B5FD01A3FE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4A792B14-B733-4067-A3FD-C3539E2B0056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E65F7688-506E-462E-AB76-783A1A3DC032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10</a:t>
            </a:r>
          </a:p>
        </p:txBody>
      </p:sp>
      <p:sp>
        <p:nvSpPr>
          <p:cNvPr id="9" name="Straight Connector 8">
            <a:extLst>
              <a:ext uri="{FF2B5EF4-FFF2-40B4-BE49-F238E27FC236}">
                <ns2:creationId id="{EEB74393-080A-4A8F-AB5C-183F28793288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1504950" cy="0"/>
          </a:xfrm>
          <a:prstGeom prst="line">
            <a:avLst/>
          </a:prstGeom>
          <a:noFill/>
          <a:ln w="28575">
            <a:solidFill>
              <a:srgbClr val="007C82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ns2:creationId id="{B123F288-95C1-4124-B589-124F578990E5}"/>
              </a:ext>
            </a:extLst>
          </p:cNvPr>
          <p:cNvSpPr>
            <a:spLocks noGrp="1"/>
          </p:cNvSpPr>
          <p:nvPr/>
        </p:nvSpPr>
        <p:spPr>
          <a:xfrm>
            <a:off x="3105150" y="2628900"/>
            <a:ext cx="323850" cy="190500"/>
          </a:xfrm>
          <a:prstGeom prst="rightArrow">
            <a:avLst/>
          </a:prstGeom>
          <a:solidFill>
            <a:srgbClr val="007C82"/>
          </a:solidFill>
          <a:ln w="0">
            <a:solidFill>
              <a:srgbClr val="007C82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ns2:creationId id="{F846E8DE-7E87-402E-842D-A9D0499C05B6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800100" cy="800100"/>
          </a:xfrm>
          <a:prstGeom prst="ellipse">
            <a:avLst/>
          </a:prstGeom>
          <a:solidFill>
            <a:srgbClr val="E7F3F3"/>
          </a:solidFill>
          <a:ln w="28575">
            <a:solidFill>
              <a:srgbClr val="007C8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01FF3823-8B61-4789-83C5-1DCA89207FC7}"/>
              </a:ext>
            </a:extLst>
          </p:cNvPr>
          <p:cNvSpPr>
            <a:spLocks noGrp="1"/>
          </p:cNvSpPr>
          <p:nvPr/>
        </p:nvSpPr>
        <p:spPr>
          <a:xfrm>
            <a:off x="914400" y="2524125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30" b="1">
                <a:solidFill>
                  <a:srgbClr val="007C82"/>
                </a:solidFill>
              </a:defRPr>
            </a:pPr>
            <a:r>
              <a:rPr sz="2430" b="1">
                <a:solidFill>
                  <a:srgbClr val="007C82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76C47E04-804B-49FC-8D40-0ACD7C3CBA86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35">
                <a:solidFill>
                  <a:srgbClr val="102033"/>
                </a:solidFill>
              </a:defRPr>
            </a:pPr>
            <a:r>
              <a:rPr sz="1735">
                <a:solidFill>
                  <a:srgbClr val="102033"/>
                </a:solidFill>
              </a:rPr>
              <a:t>Neighbor discovery starts with HELLO messages.</a:t>
            </a:r>
          </a:p>
        </p:txBody>
      </p:sp>
      <p:sp>
        <p:nvSpPr>
          <p:cNvPr id="14" name="Straight Connector 13">
            <a:extLst>
              <a:ext uri="{FF2B5EF4-FFF2-40B4-BE49-F238E27FC236}">
                <ns2:creationId id="{80B56FB8-9322-4F96-B4B9-752BB609219D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1504950" cy="0"/>
          </a:xfrm>
          <a:prstGeom prst="line">
            <a:avLst/>
          </a:prstGeom>
          <a:noFill/>
          <a:ln w="28575">
            <a:solidFill>
              <a:srgbClr val="007C82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ns2:creationId id="{1679C8D5-D38D-4911-877D-E327B25C5B4F}"/>
              </a:ext>
            </a:extLst>
          </p:cNvPr>
          <p:cNvSpPr>
            <a:spLocks noGrp="1"/>
          </p:cNvSpPr>
          <p:nvPr/>
        </p:nvSpPr>
        <p:spPr>
          <a:xfrm>
            <a:off x="5848350" y="2628900"/>
            <a:ext cx="323850" cy="190500"/>
          </a:xfrm>
          <a:prstGeom prst="rightArrow">
            <a:avLst/>
          </a:prstGeom>
          <a:solidFill>
            <a:srgbClr val="007C82"/>
          </a:solidFill>
          <a:ln w="0">
            <a:solidFill>
              <a:srgbClr val="007C82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ns2:creationId id="{96122749-6A89-408A-A94A-400F0624673D}"/>
              </a:ext>
            </a:extLst>
          </p:cNvPr>
          <p:cNvSpPr>
            <a:spLocks noGrp="1"/>
          </p:cNvSpPr>
          <p:nvPr/>
        </p:nvSpPr>
        <p:spPr>
          <a:xfrm>
            <a:off x="3657600" y="2324100"/>
            <a:ext cx="800100" cy="800100"/>
          </a:xfrm>
          <a:prstGeom prst="ellipse">
            <a:avLst/>
          </a:prstGeom>
          <a:solidFill>
            <a:srgbClr val="FCEBE7"/>
          </a:solidFill>
          <a:ln w="28575">
            <a:solidFill>
              <a:srgbClr val="E85D4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ns2:creationId id="{408290E2-7F68-4144-8675-4966C047BB1C}"/>
              </a:ext>
            </a:extLst>
          </p:cNvPr>
          <p:cNvSpPr>
            <a:spLocks noGrp="1"/>
          </p:cNvSpPr>
          <p:nvPr/>
        </p:nvSpPr>
        <p:spPr>
          <a:xfrm>
            <a:off x="3657600" y="2524125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30" b="1">
                <a:solidFill>
                  <a:srgbClr val="E85D45"/>
                </a:solidFill>
              </a:defRPr>
            </a:pPr>
            <a:r>
              <a:rPr sz="2430" b="1">
                <a:solidFill>
                  <a:srgbClr val="E85D45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2D040291-BFAB-449A-8143-AFC6D1A9B854}"/>
              </a:ext>
            </a:extLst>
          </p:cNvPr>
          <p:cNvSpPr>
            <a:spLocks noGrp="1"/>
          </p:cNvSpPr>
          <p:nvPr/>
        </p:nvSpPr>
        <p:spPr>
          <a:xfrm>
            <a:off x="3295650" y="342900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35">
                <a:solidFill>
                  <a:srgbClr val="102033"/>
                </a:solidFill>
              </a:defRPr>
            </a:pPr>
            <a:r>
              <a:rPr sz="1735">
                <a:solidFill>
                  <a:srgbClr val="102033"/>
                </a:solidFill>
              </a:rPr>
              <a:t>Based on this information, nodes select Multipoint Relays (MPRs)</a:t>
            </a:r>
          </a:p>
        </p:txBody>
      </p:sp>
      <p:sp>
        <p:nvSpPr>
          <p:cNvPr id="19" name="Straight Connector 18">
            <a:extLst>
              <a:ext uri="{FF2B5EF4-FFF2-40B4-BE49-F238E27FC236}">
                <ns2:creationId id="{65BE3090-65D3-444F-87BD-B0F97F817C40}"/>
              </a:ext>
            </a:extLst>
          </p:cNvPr>
          <p:cNvSpPr>
            <a:spLocks noGrp="1"/>
          </p:cNvSpPr>
          <p:nvPr/>
        </p:nvSpPr>
        <p:spPr>
          <a:xfrm>
            <a:off x="7143750" y="2724150"/>
            <a:ext cx="1504950" cy="0"/>
          </a:xfrm>
          <a:prstGeom prst="line">
            <a:avLst/>
          </a:prstGeom>
          <a:noFill/>
          <a:ln w="28575">
            <a:solidFill>
              <a:srgbClr val="007C82"/>
            </a:solidFill>
            <a:prstDash val="solid"/>
          </a:ln>
        </p:spPr>
      </p:sp>
      <p:sp>
        <p:nvSpPr>
          <p:cNvPr id="20" name="Arrow: Right 19">
            <a:extLst>
              <a:ext uri="{FF2B5EF4-FFF2-40B4-BE49-F238E27FC236}">
                <ns2:creationId id="{58265AB8-1EDA-4C41-BCD8-719B618CA468}"/>
              </a:ext>
            </a:extLst>
          </p:cNvPr>
          <p:cNvSpPr>
            <a:spLocks noGrp="1"/>
          </p:cNvSpPr>
          <p:nvPr/>
        </p:nvSpPr>
        <p:spPr>
          <a:xfrm>
            <a:off x="8591550" y="2628900"/>
            <a:ext cx="323850" cy="190500"/>
          </a:xfrm>
          <a:prstGeom prst="rightArrow">
            <a:avLst/>
          </a:prstGeom>
          <a:solidFill>
            <a:srgbClr val="007C82"/>
          </a:solidFill>
          <a:ln w="0">
            <a:solidFill>
              <a:srgbClr val="007C8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ns2:creationId id="{28A86DF2-B797-4EF4-A020-E02D5A49BFD2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800100" cy="800100"/>
          </a:xfrm>
          <a:prstGeom prst="ellipse">
            <a:avLst/>
          </a:prstGeom>
          <a:solidFill>
            <a:srgbClr val="E7F3F3"/>
          </a:solidFill>
          <a:ln w="28575">
            <a:solidFill>
              <a:srgbClr val="007C8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ns2:creationId id="{3259F1ED-EAE9-449B-987D-A0237F36E4C4}"/>
              </a:ext>
            </a:extLst>
          </p:cNvPr>
          <p:cNvSpPr>
            <a:spLocks noGrp="1"/>
          </p:cNvSpPr>
          <p:nvPr/>
        </p:nvSpPr>
        <p:spPr>
          <a:xfrm>
            <a:off x="6400800" y="2524125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30" b="1">
                <a:solidFill>
                  <a:srgbClr val="007C82"/>
                </a:solidFill>
              </a:defRPr>
            </a:pPr>
            <a:r>
              <a:rPr sz="2430" b="1">
                <a:solidFill>
                  <a:srgbClr val="007C82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ns2:creationId id="{0FC6F364-952C-4454-B45E-473049353748}"/>
              </a:ext>
            </a:extLst>
          </p:cNvPr>
          <p:cNvSpPr>
            <a:spLocks noGrp="1"/>
          </p:cNvSpPr>
          <p:nvPr/>
        </p:nvSpPr>
        <p:spPr>
          <a:xfrm>
            <a:off x="6038850" y="342900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35">
                <a:solidFill>
                  <a:srgbClr val="102033"/>
                </a:solidFill>
              </a:defRPr>
            </a:pPr>
            <a:r>
              <a:rPr sz="1735">
                <a:solidFill>
                  <a:srgbClr val="102033"/>
                </a:solidFill>
              </a:rPr>
              <a:t>TC messages share topology information across the network.</a:t>
            </a:r>
          </a:p>
        </p:txBody>
      </p:sp>
      <p:sp>
        <p:nvSpPr>
          <p:cNvPr id="24" name="Oval 23">
            <a:extLst>
              <a:ext uri="{FF2B5EF4-FFF2-40B4-BE49-F238E27FC236}">
                <ns2:creationId id="{E5E6B1B5-BE02-43B8-88A1-5A3E27A302D6}"/>
              </a:ext>
            </a:extLst>
          </p:cNvPr>
          <p:cNvSpPr>
            <a:spLocks noGrp="1"/>
          </p:cNvSpPr>
          <p:nvPr/>
        </p:nvSpPr>
        <p:spPr>
          <a:xfrm>
            <a:off x="9144000" y="2324100"/>
            <a:ext cx="800100" cy="800100"/>
          </a:xfrm>
          <a:prstGeom prst="ellipse">
            <a:avLst/>
          </a:prstGeom>
          <a:solidFill>
            <a:srgbClr val="FCEBE7"/>
          </a:solidFill>
          <a:ln w="28575">
            <a:solidFill>
              <a:srgbClr val="E85D4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ns2:creationId id="{05F9EEC5-D61F-400C-BD9A-79E0ABAFA5E7}"/>
              </a:ext>
            </a:extLst>
          </p:cNvPr>
          <p:cNvSpPr>
            <a:spLocks noGrp="1"/>
          </p:cNvSpPr>
          <p:nvPr/>
        </p:nvSpPr>
        <p:spPr>
          <a:xfrm>
            <a:off x="9144000" y="2524125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30" b="1">
                <a:solidFill>
                  <a:srgbClr val="E85D45"/>
                </a:solidFill>
              </a:defRPr>
            </a:pPr>
            <a:r>
              <a:rPr sz="2430" b="1">
                <a:solidFill>
                  <a:srgbClr val="E85D45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ns2:creationId id="{0835CB14-9A6B-450C-865F-ED4878B3B44A}"/>
              </a:ext>
            </a:extLst>
          </p:cNvPr>
          <p:cNvSpPr>
            <a:spLocks noGrp="1"/>
          </p:cNvSpPr>
          <p:nvPr/>
        </p:nvSpPr>
        <p:spPr>
          <a:xfrm>
            <a:off x="8782050" y="342900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35">
                <a:solidFill>
                  <a:srgbClr val="102033"/>
                </a:solidFill>
              </a:defRPr>
            </a:pPr>
            <a:r>
              <a:rPr sz="1735">
                <a:solidFill>
                  <a:srgbClr val="102033"/>
                </a:solidFill>
              </a:rPr>
              <a:t>Each node updates its routing table and chooses the next hop.</a:t>
            </a:r>
          </a:p>
        </p:txBody>
      </p:sp>
    </p:spTree>
    <p:extLst>
      <p:ext uri="{BB962C8B-B14F-4D97-AF65-F5344CB8AC3E}">
        <ns3:creationId val="597815999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ns2:creationId id="{AECF5CDD-C13D-4B50-A525-42C420045F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B86A9559-57DB-480A-8250-451A153D7CAA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65051E08-9FFD-4D2D-BC99-C6B4710CAF6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OLSR MECHANICS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F1C8FB5A-14BF-460C-9151-D625AFD87753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OLSR MECHANICS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1E200A7A-BA23-4EEE-B182-71DD7912D59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Neighbor Discovery with HELLO Messages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7CAC1B5A-8BBD-46E6-BAE2-39FFFF53693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CAD3C406-EEFA-4F53-9BA5-C8149510B5EC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5E56DFF5-83A8-4B6A-A37F-4F932D28BB19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F319D77A-6FF3-48D0-AA51-53239C8B2154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ns2:creationId id="{47E72340-6CDC-4B45-8A61-65DAEA40133C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HELLO messages are local and are not forwarded through the whole network.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667FD4A5-FC40-43DB-B524-36B740B836B4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456828FE-ADF2-4E92-BD50-9E7EAB8F1993}"/>
              </a:ext>
            </a:extLst>
          </p:cNvPr>
          <p:cNvSpPr>
            <a:spLocks noGrp="1"/>
          </p:cNvSpPr>
          <p:nvPr/>
        </p:nvSpPr>
        <p:spPr>
          <a:xfrm>
            <a:off x="1066800" y="26670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They identify one-hop neighbors that can be reached directly.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E2BE6E95-2AFA-405A-A9D3-A7A1BB902E11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D981644E-21EE-4461-B9F9-F15A50126246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They also reveal two-hop neighbors reachable through an intermediate node.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33A7861B-6FEC-460A-99E0-8CFCF6C7ECA2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8DBC6055-C90A-44F5-AD31-383041FBEC38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Missing HELLO messages can indicate a broken or unavailable link.</a:t>
            </a:r>
          </a:p>
        </p:txBody>
      </p:sp>
      <p:sp>
        <p:nvSpPr>
          <p:cNvPr id="17" name="Straight Connector 16">
            <a:extLst>
              <a:ext uri="{FF2B5EF4-FFF2-40B4-BE49-F238E27FC236}">
                <ns2:creationId id="{8AC1BBA7-F285-4117-850B-0FAC3208DA3B}"/>
              </a:ext>
            </a:extLst>
          </p:cNvPr>
          <p:cNvSpPr>
            <a:spLocks noGrp="1"/>
          </p:cNvSpPr>
          <p:nvPr/>
        </p:nvSpPr>
        <p:spPr>
          <a:xfrm>
            <a:off x="8001000" y="3314700"/>
            <a:ext cx="1143000" cy="0"/>
          </a:xfrm>
          <a:prstGeom prst="line">
            <a:avLst/>
          </a:prstGeom>
          <a:noFill/>
          <a:ln w="28575">
            <a:solidFill>
              <a:srgbClr val="E85D45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ns2:creationId id="{B412F467-66F3-4D1E-9B5E-BDE67AA63BCD}"/>
              </a:ext>
            </a:extLst>
          </p:cNvPr>
          <p:cNvSpPr>
            <a:spLocks noGrp="1"/>
          </p:cNvSpPr>
          <p:nvPr/>
        </p:nvSpPr>
        <p:spPr>
          <a:xfrm>
            <a:off x="9658350" y="3314700"/>
            <a:ext cx="1143000" cy="0"/>
          </a:xfrm>
          <a:prstGeom prst="line">
            <a:avLst/>
          </a:prstGeom>
          <a:noFill/>
          <a:ln w="28575">
            <a:solidFill>
              <a:srgbClr val="E85D4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ns2:creationId id="{9A82CE1C-3EB3-4677-A6A5-D3F3887D9B5A}"/>
              </a:ext>
            </a:extLst>
          </p:cNvPr>
          <p:cNvSpPr>
            <a:spLocks noGrp="1"/>
          </p:cNvSpPr>
          <p:nvPr/>
        </p:nvSpPr>
        <p:spPr>
          <a:xfrm>
            <a:off x="7486650" y="3057525"/>
            <a:ext cx="514350" cy="514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C8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ns2:creationId id="{21F3584B-E4ED-4287-B7F2-04EB4D87865C}"/>
              </a:ext>
            </a:extLst>
          </p:cNvPr>
          <p:cNvSpPr>
            <a:spLocks noGrp="1"/>
          </p:cNvSpPr>
          <p:nvPr/>
        </p:nvSpPr>
        <p:spPr>
          <a:xfrm>
            <a:off x="7486650" y="319087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02033"/>
                </a:solidFill>
              </a:defRPr>
            </a:pPr>
            <a:r>
              <a:rPr sz="160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ns2:creationId id="{05080B8A-A003-4D93-80FB-7D1510582830}"/>
              </a:ext>
            </a:extLst>
          </p:cNvPr>
          <p:cNvSpPr>
            <a:spLocks noGrp="1"/>
          </p:cNvSpPr>
          <p:nvPr/>
        </p:nvSpPr>
        <p:spPr>
          <a:xfrm>
            <a:off x="9144000" y="3057525"/>
            <a:ext cx="514350" cy="514350"/>
          </a:xfrm>
          <a:prstGeom prst="ellipse">
            <a:avLst/>
          </a:prstGeom>
          <a:solidFill>
            <a:srgbClr val="E85D45"/>
          </a:solidFill>
          <a:ln w="19050">
            <a:solidFill>
              <a:srgbClr val="E85D4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ns2:creationId id="{745A779D-2FF3-42BF-B833-EBBBD77CDDFD}"/>
              </a:ext>
            </a:extLst>
          </p:cNvPr>
          <p:cNvSpPr>
            <a:spLocks noGrp="1"/>
          </p:cNvSpPr>
          <p:nvPr/>
        </p:nvSpPr>
        <p:spPr>
          <a:xfrm>
            <a:off x="9144000" y="319087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3" name="Oval 22">
            <a:extLst>
              <a:ext uri="{FF2B5EF4-FFF2-40B4-BE49-F238E27FC236}">
                <ns2:creationId id="{6BCB24B7-0812-4EBF-8A20-6A101A100674}"/>
              </a:ext>
            </a:extLst>
          </p:cNvPr>
          <p:cNvSpPr>
            <a:spLocks noGrp="1"/>
          </p:cNvSpPr>
          <p:nvPr/>
        </p:nvSpPr>
        <p:spPr>
          <a:xfrm>
            <a:off x="10801350" y="3057525"/>
            <a:ext cx="514350" cy="514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C8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ns2:creationId id="{287B279F-306D-4A5E-84A1-12FD9DDBF862}"/>
              </a:ext>
            </a:extLst>
          </p:cNvPr>
          <p:cNvSpPr>
            <a:spLocks noGrp="1"/>
          </p:cNvSpPr>
          <p:nvPr/>
        </p:nvSpPr>
        <p:spPr>
          <a:xfrm>
            <a:off x="10801350" y="319087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02033"/>
                </a:solidFill>
              </a:defRPr>
            </a:pPr>
            <a:r>
              <a:rPr sz="160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ns2:creationId id="{C3598340-4621-4660-824F-F1F4089CFAE8}"/>
              </a:ext>
            </a:extLst>
          </p:cNvPr>
          <p:cNvSpPr>
            <a:spLocks noGrp="1"/>
          </p:cNvSpPr>
          <p:nvPr/>
        </p:nvSpPr>
        <p:spPr>
          <a:xfrm>
            <a:off x="8420100" y="290512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E85D45"/>
                </a:solidFill>
              </a:defRPr>
            </a:pPr>
            <a:r>
              <a:rPr sz="1200" b="1">
                <a:solidFill>
                  <a:srgbClr val="E85D45"/>
                </a:solidFill>
              </a:rPr>
              <a:t>HELLO</a:t>
            </a:r>
          </a:p>
        </p:txBody>
      </p:sp>
      <p:sp>
        <p:nvSpPr>
          <p:cNvPr id="26" name="Rectangle 25">
            <a:extLst>
              <a:ext uri="{FF2B5EF4-FFF2-40B4-BE49-F238E27FC236}">
                <ns2:creationId id="{2A1C5C51-55F1-4C1D-A7D1-44E14BAC3263}"/>
              </a:ext>
            </a:extLst>
          </p:cNvPr>
          <p:cNvSpPr>
            <a:spLocks noGrp="1"/>
          </p:cNvSpPr>
          <p:nvPr/>
        </p:nvSpPr>
        <p:spPr>
          <a:xfrm>
            <a:off x="10077450" y="290512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E85D45"/>
                </a:solidFill>
              </a:defRPr>
            </a:pPr>
            <a:r>
              <a:rPr sz="1200" b="1">
                <a:solidFill>
                  <a:srgbClr val="E85D45"/>
                </a:solidFill>
              </a:rPr>
              <a:t>HELLO</a:t>
            </a:r>
          </a:p>
        </p:txBody>
      </p:sp>
      <p:sp>
        <p:nvSpPr>
          <p:cNvPr id="27" name="Rectangle 26">
            <a:extLst>
              <a:ext uri="{FF2B5EF4-FFF2-40B4-BE49-F238E27FC236}">
                <ns2:creationId id="{8CC1BEE4-F972-4752-9B18-88C50C28A494}"/>
              </a:ext>
            </a:extLst>
          </p:cNvPr>
          <p:cNvSpPr>
            <a:spLocks noGrp="1"/>
          </p:cNvSpPr>
          <p:nvPr/>
        </p:nvSpPr>
        <p:spPr>
          <a:xfrm>
            <a:off x="8450158" y="38766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B is A's one-hop neighbor</a:t>
            </a:r>
          </a:p>
        </p:txBody>
      </p:sp>
      <p:sp>
        <p:nvSpPr>
          <p:cNvPr id="28" name="Rectangle 27">
            <a:extLst>
              <a:ext uri="{FF2B5EF4-FFF2-40B4-BE49-F238E27FC236}">
                <ns2:creationId id="{05A053FB-3EA9-4AEB-9770-3D32DF3453EE}"/>
              </a:ext>
            </a:extLst>
          </p:cNvPr>
          <p:cNvSpPr>
            <a:spLocks noGrp="1"/>
          </p:cNvSpPr>
          <p:nvPr/>
        </p:nvSpPr>
        <p:spPr>
          <a:xfrm>
            <a:off x="10363200" y="3876675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C is A's two-hop neighbor</a:t>
            </a:r>
          </a:p>
          <a:p>
            <a:pPr algn="ct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through B</a:t>
            </a:r>
          </a:p>
        </p:txBody>
      </p:sp>
    </p:spTree>
    <p:extLst>
      <p:ext uri="{BB962C8B-B14F-4D97-AF65-F5344CB8AC3E}">
        <ns3:creationId val="347072277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ns2:creationId id="{C8DD7151-7987-4957-BF23-15BC2D488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D073B78C-BFC1-4891-BEB9-5AD26A9A0C13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0820EFD0-F425-4218-9514-856323FFD36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OLSR MECHANICS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3DEB222-619F-4911-85F2-6826E05E50D8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OLSR MECHANICS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F8C08E6A-690D-44F4-B3F9-65705ED5D7B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Topology Control and Route Calculation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C119E68F-CD55-4A07-A855-3F2BD3BC7B6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64D10706-DC47-4B0A-9D0E-0D6BFFE57E7A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781C71C6-087F-4D32-9201-31C3E2D4EA05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CCCDBFE9-DB9A-4CED-A71B-D355B8E33086}"/>
              </a:ext>
            </a:extLst>
          </p:cNvPr>
          <p:cNvSpPr>
            <a:spLocks noGrp="1"/>
          </p:cNvSpPr>
          <p:nvPr/>
        </p:nvSpPr>
        <p:spPr>
          <a:xfrm>
            <a:off x="1047750" y="21717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ns2:creationId id="{74C19E8D-E988-4529-80E4-2296BE8131BB}"/>
              </a:ext>
            </a:extLst>
          </p:cNvPr>
          <p:cNvSpPr>
            <a:spLocks noGrp="1"/>
          </p:cNvSpPr>
          <p:nvPr/>
        </p:nvSpPr>
        <p:spPr>
          <a:xfrm>
            <a:off x="1276350" y="20955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TC messages distribute topology information beyond the local neighborhood.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0435ECCF-2998-46FF-BCF4-C257DF3C4596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E06C1288-FD9B-4042-9AB5-7C3C55A1697E}"/>
              </a:ext>
            </a:extLst>
          </p:cNvPr>
          <p:cNvSpPr>
            <a:spLocks noGrp="1"/>
          </p:cNvSpPr>
          <p:nvPr/>
        </p:nvSpPr>
        <p:spPr>
          <a:xfrm>
            <a:off x="1276350" y="28384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They mainly advertise links related to nodes that selected the sender as an MPR.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7245DCE9-0AD4-4E9D-ABE9-B30D5071C599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A686411E-8719-40E3-A55B-7B069C489AEC}"/>
              </a:ext>
            </a:extLst>
          </p:cNvPr>
          <p:cNvSpPr>
            <a:spLocks noGrp="1"/>
          </p:cNvSpPr>
          <p:nvPr/>
        </p:nvSpPr>
        <p:spPr>
          <a:xfrm>
            <a:off x="1276350" y="35814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Each node independently builds its topology table and routing table.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10CF644E-71A5-432F-9E01-E46327FA02FD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C83A4FC3-A1DE-498B-8D3F-650C22FEB07A}"/>
              </a:ext>
            </a:extLst>
          </p:cNvPr>
          <p:cNvSpPr>
            <a:spLocks noGrp="1"/>
          </p:cNvSpPr>
          <p:nvPr/>
        </p:nvSpPr>
        <p:spPr>
          <a:xfrm>
            <a:off x="1276350" y="43243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Routes are usually chosen by shortest hop count and updated after topology changes.</a:t>
            </a:r>
          </a:p>
        </p:txBody>
      </p:sp>
    </p:spTree>
    <p:extLst>
      <p:ext uri="{BB962C8B-B14F-4D97-AF65-F5344CB8AC3E}">
        <ns3:creationId val="389578560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ns2:creationId id="{7BD1FC75-121E-4BB9-9830-464E1964E6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3C16B247-A8C8-414C-80F9-98B130DDB179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96128C43-14BB-4443-B56A-32DF61B1490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MULTIPOINT RELAYS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C564C8AB-B9D5-48FA-B050-600904C5ED10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MULTIPOINT RELAYS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09C3126C-DBEB-4B5A-A3F1-8E463269659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MPR Definition and Selection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A192677D-CE18-41C1-8D31-C1E44A09A66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89A51300-17A0-4049-A894-A7B49BE69D86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7A19E6E7-BC89-40D2-A5DA-A3563B046774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D29C23CB-A540-40EC-BEA5-8CA6C1320910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ns2:creationId id="{00EE01FE-AE06-42C0-8009-379ABCE6EE6B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MPRs are selected one-hop neighbors responsible for forwarding control messages.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D7218533-BBA6-4E0D-9594-998CD337DA88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CD81BD21-DD18-49C3-9418-DAD52D596F54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Each node chooses its own MPR set; no central router makes the decision.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C9D977EE-A8C8-418F-9F37-2227071CA050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D5803B37-E693-40AA-8900-6EB45D690A6D}"/>
              </a:ext>
            </a:extLst>
          </p:cNvPr>
          <p:cNvSpPr>
            <a:spLocks noGrp="1"/>
          </p:cNvSpPr>
          <p:nvPr/>
        </p:nvSpPr>
        <p:spPr>
          <a:xfrm>
            <a:off x="1066800" y="32004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The goal is to cover all two-hop neighbors with as few MPRs as possible.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AC7FC5BA-EDC1-4417-9C6D-51F7DBE08F7F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EB7F3484-A67B-4C4C-BDBD-7539791D90F1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The MPR set changes when mobility or link changes alter the neighborhood.</a:t>
            </a:r>
          </a:p>
        </p:txBody>
      </p:sp>
      <p:sp>
        <p:nvSpPr>
          <p:cNvPr id="17" name="Straight Connector 16">
            <a:extLst>
              <a:ext uri="{FF2B5EF4-FFF2-40B4-BE49-F238E27FC236}">
                <ns2:creationId id="{D2841927-1DCA-4301-B301-B05D1FB92125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0" cy="0"/>
          </a:xfrm>
          <a:prstGeom prst="line">
            <a:avLst/>
          </a:prstGeom>
          <a:noFill/>
          <a:ln w="19050">
            <a:solidFill>
              <a:srgbClr val="D7E1E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ns2:creationId id="{CEC0D3F7-6BCB-4875-9CBA-720E00B4A28B}"/>
              </a:ext>
            </a:extLst>
          </p:cNvPr>
          <p:cNvSpPr>
            <a:spLocks noGrp="1"/>
          </p:cNvSpPr>
          <p:nvPr/>
        </p:nvSpPr>
        <p:spPr>
          <a:xfrm>
            <a:off x="8591550" y="277177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02033"/>
                </a:solidFill>
              </a:defRPr>
            </a:pPr>
            <a:endParaRPr sz="1600" b="1" dirty="0">
              <a:solidFill>
                <a:srgbClr val="102033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ns2:creationId id="{5C51C33B-E17A-475F-A6BC-601F8F4BAFAB}"/>
              </a:ext>
            </a:extLst>
          </p:cNvPr>
          <p:cNvSpPr>
            <a:spLocks noGrp="1"/>
          </p:cNvSpPr>
          <p:nvPr/>
        </p:nvSpPr>
        <p:spPr>
          <a:xfrm>
            <a:off x="7543800" y="21431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02033"/>
                </a:solidFill>
              </a:defRPr>
            </a:pPr>
            <a:endParaRPr sz="1600" b="1" dirty="0">
              <a:solidFill>
                <a:srgbClr val="102033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ns2:creationId id="{FAC776DF-7FE8-402E-93CE-0A4A0C361BB7}"/>
              </a:ext>
            </a:extLst>
          </p:cNvPr>
          <p:cNvSpPr>
            <a:spLocks noGrp="1"/>
          </p:cNvSpPr>
          <p:nvPr/>
        </p:nvSpPr>
        <p:spPr>
          <a:xfrm>
            <a:off x="9677400" y="21431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0" name="Rectangle 29">
            <a:extLst>
              <a:ext uri="{FF2B5EF4-FFF2-40B4-BE49-F238E27FC236}">
                <ns2:creationId id="{9D928D25-BCE0-4024-9CC8-C5DE33095DD4}"/>
              </a:ext>
            </a:extLst>
          </p:cNvPr>
          <p:cNvSpPr>
            <a:spLocks noGrp="1"/>
          </p:cNvSpPr>
          <p:nvPr/>
        </p:nvSpPr>
        <p:spPr>
          <a:xfrm>
            <a:off x="7467600" y="357187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02033"/>
                </a:solidFill>
              </a:defRPr>
            </a:pPr>
            <a:endParaRPr sz="1600" b="1" dirty="0">
              <a:solidFill>
                <a:srgbClr val="102033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ns2:creationId id="{8C1DC3C6-0C62-926A-725C-4314EAD53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80341" y="1925457"/>
            <a:ext cx="4048125" cy="2778486"/>
          </a:xfrm>
          <a:prstGeom prst="rect">
            <a:avLst/>
          </a:prstGeom>
        </p:spPr>
      </p:pic>
    </p:spTree>
    <p:extLst>
      <p:ext uri="{BB962C8B-B14F-4D97-AF65-F5344CB8AC3E}">
        <ns4:creationId val="1797078224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ns2:creationId id="{6D0A2A74-A4A1-4D99-B7C7-91B4B1BA26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2715FE8D-8776-4DA5-B41D-0AD8C4713C05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FE8FC88B-9098-430A-A544-5353CF02558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MULTIPOINT RELAYS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CA422D22-192C-42F7-9A54-C33FA1A14752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MULTIPOINT RELAYS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C3D20EE6-4141-4228-BBB7-C639BE6DDE6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How MPRs Reduce Routing Overhead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9F61B314-1E3A-4400-BEBA-933042D5D93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3D093E62-7892-4813-9C62-96BEEC4657DB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10441AEE-E061-4401-B3DD-8C809FE726FC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F1E021F-E434-41A7-A7A6-F6B80F57EACC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Without MPRs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6AEE332D-42FC-4AB9-B98C-DDF6FA198CF8}"/>
              </a:ext>
            </a:extLst>
          </p:cNvPr>
          <p:cNvSpPr>
            <a:spLocks noGrp="1"/>
          </p:cNvSpPr>
          <p:nvPr/>
        </p:nvSpPr>
        <p:spPr>
          <a:xfrm>
            <a:off x="904875" y="2238375"/>
            <a:ext cx="533400" cy="28575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ns2:creationId id="{23176F3D-5641-432B-9095-512A0DBBEF35}"/>
              </a:ext>
            </a:extLst>
          </p:cNvPr>
          <p:cNvSpPr>
            <a:spLocks noGrp="1"/>
          </p:cNvSpPr>
          <p:nvPr/>
        </p:nvSpPr>
        <p:spPr>
          <a:xfrm>
            <a:off x="904875" y="27813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3B2F1932-C473-48C0-AC15-1AA9CC6FCB81}"/>
              </a:ext>
            </a:extLst>
          </p:cNvPr>
          <p:cNvSpPr>
            <a:spLocks noGrp="1"/>
          </p:cNvSpPr>
          <p:nvPr/>
        </p:nvSpPr>
        <p:spPr>
          <a:xfrm>
            <a:off x="1133475" y="27051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Many nodes retransmit the same control message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23ABF6DB-10B1-4A10-A818-B2AE659EFC9C}"/>
              </a:ext>
            </a:extLst>
          </p:cNvPr>
          <p:cNvSpPr>
            <a:spLocks noGrp="1"/>
          </p:cNvSpPr>
          <p:nvPr/>
        </p:nvSpPr>
        <p:spPr>
          <a:xfrm>
            <a:off x="904875" y="33909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082EF57A-35EC-44DE-9F2B-0D47B3CECDBA}"/>
              </a:ext>
            </a:extLst>
          </p:cNvPr>
          <p:cNvSpPr>
            <a:spLocks noGrp="1"/>
          </p:cNvSpPr>
          <p:nvPr/>
        </p:nvSpPr>
        <p:spPr>
          <a:xfrm>
            <a:off x="1133475" y="33147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Duplicate transmissions waste bandwidth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9BAA3B2-AFFC-4A44-9A93-25B13060E157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21179E93-F377-4649-AD44-834C27BAE2B7}"/>
              </a:ext>
            </a:extLst>
          </p:cNvPr>
          <p:cNvSpPr>
            <a:spLocks noGrp="1"/>
          </p:cNvSpPr>
          <p:nvPr/>
        </p:nvSpPr>
        <p:spPr>
          <a:xfrm>
            <a:off x="1133475" y="39243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Dense networks suffer especially from repeated flooding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F376E500-BCD6-4790-A495-30C4D45692AA}"/>
              </a:ext>
            </a:extLst>
          </p:cNvPr>
          <p:cNvSpPr>
            <a:spLocks noGrp="1"/>
          </p:cNvSpPr>
          <p:nvPr/>
        </p:nvSpPr>
        <p:spPr>
          <a:xfrm>
            <a:off x="5962650" y="2038350"/>
            <a:ext cx="14288" cy="285750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ns2:creationId id="{B7B11FB7-812F-4B5A-93F6-1CEBBDADCC1A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E85D45"/>
                </a:solidFill>
              </a:defRPr>
            </a:pPr>
            <a:r>
              <a:rPr sz="1400" b="1">
                <a:solidFill>
                  <a:srgbClr val="E85D45"/>
                </a:solidFill>
              </a:rPr>
              <a:t>With MPRs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247F9D1D-5FD2-49E1-A4A1-F3D04CC8718E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533400" cy="2857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ns2:creationId id="{714116AB-B45A-4478-9270-550A35325E12}"/>
              </a:ext>
            </a:extLst>
          </p:cNvPr>
          <p:cNvSpPr>
            <a:spLocks noGrp="1"/>
          </p:cNvSpPr>
          <p:nvPr/>
        </p:nvSpPr>
        <p:spPr>
          <a:xfrm>
            <a:off x="6572250" y="27813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ns2:creationId id="{EF960321-7DF5-48A0-87C4-EDC0AC40CE1A}"/>
              </a:ext>
            </a:extLst>
          </p:cNvPr>
          <p:cNvSpPr>
            <a:spLocks noGrp="1"/>
          </p:cNvSpPr>
          <p:nvPr/>
        </p:nvSpPr>
        <p:spPr>
          <a:xfrm>
            <a:off x="6800850" y="27051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Only selected relay nodes retransmit</a:t>
            </a:r>
          </a:p>
        </p:txBody>
      </p:sp>
      <p:sp>
        <p:nvSpPr>
          <p:cNvPr id="22" name="Rectangle 21">
            <a:extLst>
              <a:ext uri="{FF2B5EF4-FFF2-40B4-BE49-F238E27FC236}">
                <ns2:creationId id="{59D713B1-7553-459E-AB3D-E46C58EDA98A}"/>
              </a:ext>
            </a:extLst>
          </p:cNvPr>
          <p:cNvSpPr>
            <a:spLocks noGrp="1"/>
          </p:cNvSpPr>
          <p:nvPr/>
        </p:nvSpPr>
        <p:spPr>
          <a:xfrm>
            <a:off x="6572250" y="33909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ns2:creationId id="{18D01CCE-846F-4A6C-B2EC-33EAB97B6EE6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Control traffic becomes smaller</a:t>
            </a:r>
          </a:p>
        </p:txBody>
      </p:sp>
      <p:sp>
        <p:nvSpPr>
          <p:cNvPr id="24" name="Rectangle 23">
            <a:extLst>
              <a:ext uri="{FF2B5EF4-FFF2-40B4-BE49-F238E27FC236}">
                <ns2:creationId id="{12D90FC6-946E-4BB5-BA1A-3726D06A8D29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ns2:creationId id="{6BAB165A-721C-4ADE-BF43-D51287FD1C80}"/>
              </a:ext>
            </a:extLst>
          </p:cNvPr>
          <p:cNvSpPr>
            <a:spLocks noGrp="1"/>
          </p:cNvSpPr>
          <p:nvPr/>
        </p:nvSpPr>
        <p:spPr>
          <a:xfrm>
            <a:off x="6800850" y="39243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00">
                <a:solidFill>
                  <a:srgbClr val="102033"/>
                </a:solidFill>
              </a:defRPr>
            </a:pPr>
            <a:r>
              <a:rPr sz="1600">
                <a:solidFill>
                  <a:srgbClr val="102033"/>
                </a:solidFill>
              </a:rPr>
              <a:t>Topology information still reaches the network</a:t>
            </a:r>
          </a:p>
        </p:txBody>
      </p:sp>
      <p:sp>
        <p:nvSpPr>
          <p:cNvPr id="26" name="Rectangle 25">
            <a:extLst>
              <a:ext uri="{FF2B5EF4-FFF2-40B4-BE49-F238E27FC236}">
                <ns2:creationId id="{5871DA93-D348-4BAD-98CB-8ABEEA69E7F1}"/>
              </a:ext>
            </a:extLst>
          </p:cNvPr>
          <p:cNvSpPr>
            <a:spLocks noGrp="1"/>
          </p:cNvSpPr>
          <p:nvPr/>
        </p:nvSpPr>
        <p:spPr>
          <a:xfrm>
            <a:off x="1143000" y="56007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02033"/>
                </a:solidFill>
              </a:defRPr>
            </a:pPr>
            <a:r>
              <a:rPr sz="1600" b="1">
                <a:solidFill>
                  <a:srgbClr val="102033"/>
                </a:solidFill>
              </a:rPr>
              <a:t>MPRs do not remove overhead completely, but they make proactive routing more efficient.</a:t>
            </a:r>
          </a:p>
        </p:txBody>
      </p:sp>
    </p:spTree>
    <p:extLst>
      <p:ext uri="{BB962C8B-B14F-4D97-AF65-F5344CB8AC3E}">
        <ns3:creationId val="1932896285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ns2:creationId id="{B2C5FF00-26AB-439E-91F7-73E6699D15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A87EF5D2-B925-4DEA-BE4A-BFF0A7CC12F8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5D17BAE2-5884-4748-A044-6CFB5EC10C0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DISCUSSION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D5528B01-DD04-450C-B322-429A9C43A3DA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1A2EB561-5ED4-498E-9151-C5C43D4F918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Advantages and Limitations of OLSR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D1FA5F49-8D96-410C-8CF2-D50235FB3B5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0F2F6801-7E52-44C2-AAD5-98CE0EC73925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FAB0761A-31B0-417B-9BFF-4987829051AB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C1448A21-C181-4F4C-B504-3E19C9FFB5D6}"/>
              </a:ext>
            </a:extLst>
          </p:cNvPr>
          <p:cNvSpPr>
            <a:spLocks noGrp="1"/>
          </p:cNvSpPr>
          <p:nvPr/>
        </p:nvSpPr>
        <p:spPr>
          <a:xfrm>
            <a:off x="990600" y="22288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ns2:creationId id="{C8FB6035-DCA2-4BE1-A7F9-57C165E7F8B7}"/>
              </a:ext>
            </a:extLst>
          </p:cNvPr>
          <p:cNvSpPr>
            <a:spLocks noGrp="1"/>
          </p:cNvSpPr>
          <p:nvPr/>
        </p:nvSpPr>
        <p:spPr>
          <a:xfrm>
            <a:off x="1219200" y="21526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Advantage: routes are already available, so initial delay is low.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3DA66805-32F2-47CE-9489-2B9E1B06377F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1AC1F7BB-BD17-4D93-8E21-CBB747B315A3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Advantage: MPRs reduce unnecessary retransmissions compared with normal flooding.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F7727F9E-405B-48CA-BC2F-F5831BA4C1D2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53078571-4522-4893-AA19-5E0CA1BB8898}"/>
              </a:ext>
            </a:extLst>
          </p:cNvPr>
          <p:cNvSpPr>
            <a:spLocks noGrp="1"/>
          </p:cNvSpPr>
          <p:nvPr/>
        </p:nvSpPr>
        <p:spPr>
          <a:xfrm>
            <a:off x="1219200" y="35623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Limitation: periodic control messages still consume bandwidth and energy.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5DFB9E5D-B9CA-4085-8D85-AAC6783C11FF}"/>
              </a:ext>
            </a:extLst>
          </p:cNvPr>
          <p:cNvSpPr>
            <a:spLocks noGrp="1"/>
          </p:cNvSpPr>
          <p:nvPr/>
        </p:nvSpPr>
        <p:spPr>
          <a:xfrm>
            <a:off x="990600" y="434340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155DA487-BF16-4EC7-BCBC-E7A8EF4A04A3}"/>
              </a:ext>
            </a:extLst>
          </p:cNvPr>
          <p:cNvSpPr>
            <a:spLocks noGrp="1"/>
          </p:cNvSpPr>
          <p:nvPr/>
        </p:nvSpPr>
        <p:spPr>
          <a:xfrm>
            <a:off x="1219200" y="42672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81">
                <a:solidFill>
                  <a:srgbClr val="102033"/>
                </a:solidFill>
              </a:defRPr>
            </a:pPr>
            <a:r>
              <a:rPr sz="1781">
                <a:solidFill>
                  <a:srgbClr val="102033"/>
                </a:solidFill>
              </a:rPr>
              <a:t>Limitation: very high mobility or very limited energy can reduce performance.</a:t>
            </a:r>
          </a:p>
        </p:txBody>
      </p:sp>
    </p:spTree>
    <p:extLst>
      <p:ext uri="{BB962C8B-B14F-4D97-AF65-F5344CB8AC3E}">
        <ns3:creationId val="1783778532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ns2:creationId id="{5CF4477C-8DC3-45CA-AE87-F7E5A7A3C3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ns2:creationId id="{A04ECDFF-08FD-45CA-A383-7B53B3FEA8FD}"/>
              </a:ext>
            </a:extLst>
          </p:cNvPr>
          <p:cNvSpPr>
            <a:spLocks noGrp="1"/>
          </p:cNvSpPr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ns2:creationId id="{233228EE-47C0-4AF8-9881-E89D0C22C9B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7E837E4-116E-4054-AFF9-F8D598DA32B0}"/>
              </a:ext>
            </a:extLst>
          </p:cNvPr>
          <p:cNvSpPr>
            <a:spLocks noGrp="1"/>
          </p:cNvSpPr>
          <p:nvPr/>
        </p:nvSpPr>
        <p:spPr>
          <a:xfrm>
            <a:off x="9677400" y="323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5D63"/>
                </a:solidFill>
              </a:defRPr>
            </a:pPr>
            <a:r>
              <a:rPr sz="1200" b="1">
                <a:solidFill>
                  <a:srgbClr val="005D63"/>
                </a:solidFill>
              </a:rPr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4BD50D24-FB56-4569-81B0-9C9E378624B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Main Findings and Limitations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E03F6577-C1BA-4795-921E-CD9F15C5AE0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95350" cy="4762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ns2:creationId id="{C30685D6-1D92-45D0-B7FC-041DEA7D1E44}"/>
              </a:ext>
            </a:extLst>
          </p:cNvPr>
          <p:cNvSpPr>
            <a:spLocks noGrp="1"/>
          </p:cNvSpPr>
          <p:nvPr/>
        </p:nvSpPr>
        <p:spPr>
          <a:xfrm>
            <a:off x="1752600" y="1371600"/>
            <a:ext cx="9544050" cy="14288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ns2:creationId id="{CB6B1A68-751D-4C85-90BF-7D4A364B7A68}"/>
              </a:ext>
            </a:extLst>
          </p:cNvPr>
          <p:cNvSpPr>
            <a:spLocks noGrp="1"/>
          </p:cNvSpPr>
          <p:nvPr/>
        </p:nvSpPr>
        <p:spPr>
          <a:xfrm>
            <a:off x="11049000" y="6210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C6977"/>
                </a:solidFill>
              </a:defRPr>
            </a:pPr>
            <a:r>
              <a:rPr sz="1200">
                <a:solidFill>
                  <a:srgbClr val="5C6977"/>
                </a:solidFill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CEC1AD46-C17E-477E-AD93-70DFE8E2014D}"/>
              </a:ext>
            </a:extLst>
          </p:cNvPr>
          <p:cNvSpPr>
            <a:spLocks noGrp="1"/>
          </p:cNvSpPr>
          <p:nvPr/>
        </p:nvSpPr>
        <p:spPr>
          <a:xfrm>
            <a:off x="895350" y="1952625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005D63"/>
                </a:solidFill>
              </a:defRPr>
            </a:pPr>
            <a:r>
              <a:rPr sz="1400" b="1">
                <a:solidFill>
                  <a:srgbClr val="005D63"/>
                </a:solidFill>
              </a:rPr>
              <a:t>MAIN FINDINGS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2CE66E18-A984-4DDC-8FAB-F06D006F3E82}"/>
              </a:ext>
            </a:extLst>
          </p:cNvPr>
          <p:cNvSpPr>
            <a:spLocks noGrp="1"/>
          </p:cNvSpPr>
          <p:nvPr/>
        </p:nvSpPr>
        <p:spPr>
          <a:xfrm>
            <a:off x="895350" y="2238375"/>
            <a:ext cx="533400" cy="28575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ns2:creationId id="{64B5618D-F767-4B95-AA46-AF03D41A0462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ns2:creationId id="{96874D08-0EA9-44CF-B3AF-52DB9EF18F14}"/>
              </a:ext>
            </a:extLst>
          </p:cNvPr>
          <p:cNvSpPr>
            <a:spLocks noGrp="1"/>
          </p:cNvSpPr>
          <p:nvPr/>
        </p:nvSpPr>
        <p:spPr>
          <a:xfrm>
            <a:off x="1123950" y="26860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OLSR combines link-state routing with MPR-based optimization.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44282F04-093C-450A-B0CA-CAAED863C9A1}"/>
              </a:ext>
            </a:extLst>
          </p:cNvPr>
          <p:cNvSpPr>
            <a:spLocks noGrp="1"/>
          </p:cNvSpPr>
          <p:nvPr/>
        </p:nvSpPr>
        <p:spPr>
          <a:xfrm>
            <a:off x="895350" y="34861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80F1A455-CC42-4559-8A17-E2D3D203B250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HELLO messages discover local neighbors; TC messages spread topology information.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F873ED45-ED66-4FF2-BA28-DB4B2DB9F56F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76200" cy="76200"/>
          </a:xfrm>
          <a:prstGeom prst="rect">
            <a:avLst/>
          </a:prstGeom>
          <a:solidFill>
            <a:srgbClr val="007C8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4B103C4B-B63E-4929-A6F2-6C797F623E99}"/>
              </a:ext>
            </a:extLst>
          </p:cNvPr>
          <p:cNvSpPr>
            <a:spLocks noGrp="1"/>
          </p:cNvSpPr>
          <p:nvPr/>
        </p:nvSpPr>
        <p:spPr>
          <a:xfrm>
            <a:off x="1123950" y="41338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Routes are available before transmission, reducing initial delay.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2F0FE30A-C821-4C10-BB8B-D9B3C352B470}"/>
              </a:ext>
            </a:extLst>
          </p:cNvPr>
          <p:cNvSpPr>
            <a:spLocks noGrp="1"/>
          </p:cNvSpPr>
          <p:nvPr/>
        </p:nvSpPr>
        <p:spPr>
          <a:xfrm>
            <a:off x="5962650" y="2038350"/>
            <a:ext cx="14288" cy="3105150"/>
          </a:xfrm>
          <a:prstGeom prst="rect">
            <a:avLst/>
          </a:prstGeom>
          <a:solidFill>
            <a:srgbClr val="D7E1E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ns2:creationId id="{900082C1-9889-4339-AE8D-11970AC4129F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1">
                <a:solidFill>
                  <a:srgbClr val="E85D45"/>
                </a:solidFill>
              </a:defRPr>
            </a:pPr>
            <a:r>
              <a:rPr sz="1400" b="1">
                <a:solidFill>
                  <a:srgbClr val="E85D45"/>
                </a:solidFill>
              </a:rPr>
              <a:t>LIMITATIONS / FUTURE WORK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953BFA62-D72D-4898-B2F2-E946C6A37EE1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533400" cy="28575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ns2:creationId id="{E3B91896-ACF8-4D84-893E-557C0790682D}"/>
              </a:ext>
            </a:extLst>
          </p:cNvPr>
          <p:cNvSpPr>
            <a:spLocks noGrp="1"/>
          </p:cNvSpPr>
          <p:nvPr/>
        </p:nvSpPr>
        <p:spPr>
          <a:xfrm>
            <a:off x="6572250" y="27622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ns2:creationId id="{7D7DF700-7491-4CF8-ACB8-885FE066572A}"/>
              </a:ext>
            </a:extLst>
          </p:cNvPr>
          <p:cNvSpPr>
            <a:spLocks noGrp="1"/>
          </p:cNvSpPr>
          <p:nvPr/>
        </p:nvSpPr>
        <p:spPr>
          <a:xfrm>
            <a:off x="6800850" y="26860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Periodic control messages still consume bandwidth and energy.</a:t>
            </a:r>
          </a:p>
        </p:txBody>
      </p:sp>
      <p:sp>
        <p:nvSpPr>
          <p:cNvPr id="22" name="Rectangle 21">
            <a:extLst>
              <a:ext uri="{FF2B5EF4-FFF2-40B4-BE49-F238E27FC236}">
                <ns2:creationId id="{614B56BD-9697-4426-BF58-08FED030B5DD}"/>
              </a:ext>
            </a:extLst>
          </p:cNvPr>
          <p:cNvSpPr>
            <a:spLocks noGrp="1"/>
          </p:cNvSpPr>
          <p:nvPr/>
        </p:nvSpPr>
        <p:spPr>
          <a:xfrm>
            <a:off x="6572250" y="34861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ns2:creationId id="{11F31335-CF7D-477D-9E36-ED8F26D2B1CB}"/>
              </a:ext>
            </a:extLst>
          </p:cNvPr>
          <p:cNvSpPr>
            <a:spLocks noGrp="1"/>
          </p:cNvSpPr>
          <p:nvPr/>
        </p:nvSpPr>
        <p:spPr>
          <a:xfrm>
            <a:off x="6800850" y="34099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Large or highly mobile networks can increase overhead.</a:t>
            </a:r>
          </a:p>
        </p:txBody>
      </p:sp>
      <p:sp>
        <p:nvSpPr>
          <p:cNvPr id="24" name="Rectangle 23">
            <a:extLst>
              <a:ext uri="{FF2B5EF4-FFF2-40B4-BE49-F238E27FC236}">
                <ns2:creationId id="{2B5ED25D-6D49-417B-8411-1EF7A203C38C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76200" cy="76200"/>
          </a:xfrm>
          <a:prstGeom prst="rect">
            <a:avLst/>
          </a:prstGeom>
          <a:solidFill>
            <a:srgbClr val="E85D45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ns2:creationId id="{9C5D9308-6238-4B18-9067-0ACEFDFDA23A}"/>
              </a:ext>
            </a:extLst>
          </p:cNvPr>
          <p:cNvSpPr>
            <a:spLocks noGrp="1"/>
          </p:cNvSpPr>
          <p:nvPr/>
        </p:nvSpPr>
        <p:spPr>
          <a:xfrm>
            <a:off x="6800850" y="41338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88">
                <a:solidFill>
                  <a:srgbClr val="102033"/>
                </a:solidFill>
              </a:defRPr>
            </a:pPr>
            <a:r>
              <a:rPr sz="1688">
                <a:solidFill>
                  <a:srgbClr val="102033"/>
                </a:solidFill>
              </a:rPr>
              <a:t>OLSR is important, but not the best solution for every wireless network.</a:t>
            </a:r>
          </a:p>
        </p:txBody>
      </p:sp>
    </p:spTree>
    <p:extLst>
      <p:ext uri="{BB962C8B-B14F-4D97-AF65-F5344CB8AC3E}">
        <ns3:creationId val="15155334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946</Words>
  <Application>Microsoft Office PowerPoint</Application>
  <DocSecurity>0</DocSecurity>
  <PresentationFormat>Widescreen</PresentationFormat>
  <Paragraphs>167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Rayan Brigui</cp:lastModifiedBy>
  <cp:revision>2</cp:revision>
  <dcterms:created xsi:type="dcterms:W3CDTF">2026-07-04T23:41:06Z</dcterms:created>
  <dcterms:modified xsi:type="dcterms:W3CDTF">2026-07-05T07:35:51Z</dcterms:modified>
</cp:coreProperties>
</file>